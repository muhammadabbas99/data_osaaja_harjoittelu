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12:46.3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471 0 24575,'-19'3'0,"0"0"0,0 1 0,1 1 0,0 0 0,0 2 0,0 0 0,1 1 0,-28 18 0,-14 4 0,27-16 0,-64 34 0,87-42 0,-1 0 0,1 0 0,0 1 0,1 0 0,-1 1 0,1 0 0,-8 11 0,15-17 0,-1 0 0,1 0 0,0 0 0,-1 0 0,1 0 0,0 0 0,0 0 0,0 1 0,0-1 0,1 0 0,-1 1 0,1-1 0,-1 1 0,1-1 0,0 1 0,0-1 0,0 0 0,0 1 0,0-1 0,1 1 0,-1-1 0,1 1 0,0-1 0,-1 0 0,1 1 0,0-1 0,0 0 0,1 0 0,-1 0 0,0 0 0,1 0 0,1 2 0,6 5 0,0-1 0,1 0 0,0 0 0,0-2 0,16 9 0,8 7 0,47 36-1365,-58-41-5461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12:47.8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54 24575,'296'-15'0,"-140"3"0,195 11 0,-155 3 0,85 1 0,296-6 0,-435-11 89,32 0-1543,-151 14-5372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9068A3-8D85-44C6-AAD8-2C6893CBFFD1}" type="datetimeFigureOut">
              <a:rPr lang="fi-FI" smtClean="0"/>
              <a:t>30.3.2026</a:t>
            </a:fld>
            <a:endParaRPr lang="fi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8EA05-C0FD-474A-B7C8-E085D367893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180385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DD057-9C00-44D1-BC01-EEDD6769F7A9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203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CC3A4-1A46-4E97-B363-292E86FD533D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727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4CDCD-2247-4071-A772-93FE614412B9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454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F518C-BF61-4CDD-90FF-D843FCA5B2FF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703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D59EF-B17A-4F46-B446-D27DF20D1D99}" type="datetime1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679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4D121-5BD2-4986-83C5-B6AA3741F170}" type="datetime1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361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0FE45-3D2D-4720-B6D2-B716EF21CD11}" type="datetime1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54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7D990-DE0D-4B15-97EE-FE12FA796ED0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42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5E33F-BBF1-4DE1-97B3-4E0659F07D78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88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826C7-1B51-4D08-8CE8-E9D74FD6E0B3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066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F553C-FBAE-4419-8630-48B494A669D8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060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B35F2065-4641-4920-A1F2-DC9C9FD39E44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158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customXml" Target="../ink/ink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4BDE91-5E9E-7DAC-532E-F714B5F62B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68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95DEB6A-976D-98B6-8875-F4C240958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4800"/>
            <a:ext cx="12192000" cy="2743202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3000">
                <a:schemeClr val="bg1">
                  <a:alpha val="25000"/>
                </a:schemeClr>
              </a:gs>
              <a:gs pos="59000">
                <a:schemeClr val="bg1">
                  <a:alpha val="35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8CC691-4866-B8B0-2901-B01758D841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787" y="617220"/>
            <a:ext cx="8201790" cy="960120"/>
          </a:xfrm>
          <a:ln>
            <a:noFill/>
          </a:ln>
        </p:spPr>
        <p:txBody>
          <a:bodyPr anchor="ctr">
            <a:normAutofit fontScale="90000"/>
          </a:bodyPr>
          <a:lstStyle/>
          <a:p>
            <a:pPr algn="l"/>
            <a:r>
              <a:rPr lang="fi-FI" dirty="0" err="1">
                <a:solidFill>
                  <a:schemeClr val="bg1"/>
                </a:solidFill>
              </a:rPr>
              <a:t>Sales</a:t>
            </a:r>
            <a:r>
              <a:rPr lang="fi-FI" dirty="0">
                <a:solidFill>
                  <a:schemeClr val="bg1"/>
                </a:solidFill>
              </a:rPr>
              <a:t> Data and</a:t>
            </a:r>
            <a:br>
              <a:rPr lang="fi-FI" dirty="0">
                <a:solidFill>
                  <a:schemeClr val="bg1"/>
                </a:solidFill>
              </a:rPr>
            </a:br>
            <a:r>
              <a:rPr lang="fi-FI" dirty="0" err="1">
                <a:solidFill>
                  <a:schemeClr val="bg1"/>
                </a:solidFill>
              </a:rPr>
              <a:t>Predictions</a:t>
            </a:r>
            <a:endParaRPr lang="fi-FI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20218F-91B3-4E1C-1431-55D3CADB92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059" y="4663724"/>
            <a:ext cx="3409110" cy="950410"/>
          </a:xfrm>
        </p:spPr>
        <p:txBody>
          <a:bodyPr anchor="ctr">
            <a:normAutofit fontScale="92500" lnSpcReduction="10000"/>
          </a:bodyPr>
          <a:lstStyle/>
          <a:p>
            <a:pPr algn="r"/>
            <a:r>
              <a:rPr lang="fi-FI" sz="2400" dirty="0">
                <a:solidFill>
                  <a:schemeClr val="bg1"/>
                </a:solidFill>
              </a:rPr>
              <a:t>Muhammad Hashim</a:t>
            </a:r>
          </a:p>
          <a:p>
            <a:pPr algn="r"/>
            <a:r>
              <a:rPr lang="fi-FI" sz="2400" dirty="0">
                <a:solidFill>
                  <a:schemeClr val="bg1"/>
                </a:solidFill>
              </a:rPr>
              <a:t>Abbas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EBC737-8845-8FA3-A210-94DFFEBD7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5380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0BA1E-A2F6-1F42-0C60-66E6496C8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78" y="582930"/>
            <a:ext cx="3930777" cy="1132258"/>
          </a:xfrm>
        </p:spPr>
        <p:txBody>
          <a:bodyPr/>
          <a:lstStyle/>
          <a:p>
            <a:r>
              <a:rPr lang="fi-FI" dirty="0" err="1"/>
              <a:t>About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2931B-D48A-375F-CC10-900C25554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872" y="1715532"/>
            <a:ext cx="10653579" cy="4593828"/>
          </a:xfrm>
        </p:spPr>
        <p:txBody>
          <a:bodyPr/>
          <a:lstStyle/>
          <a:p>
            <a:r>
              <a:rPr lang="fi-FI" dirty="0" err="1"/>
              <a:t>Analyse</a:t>
            </a:r>
            <a:r>
              <a:rPr lang="fi-FI" dirty="0"/>
              <a:t> and </a:t>
            </a:r>
            <a:r>
              <a:rPr lang="fi-FI" dirty="0" err="1"/>
              <a:t>build</a:t>
            </a:r>
            <a:r>
              <a:rPr lang="fi-FI" dirty="0"/>
              <a:t> </a:t>
            </a:r>
            <a:r>
              <a:rPr lang="fi-FI" dirty="0" err="1"/>
              <a:t>predictions</a:t>
            </a:r>
            <a:br>
              <a:rPr lang="fi-FI" dirty="0"/>
            </a:br>
            <a:r>
              <a:rPr lang="fi-FI" dirty="0" err="1"/>
              <a:t>based</a:t>
            </a:r>
            <a:r>
              <a:rPr lang="fi-FI" dirty="0"/>
              <a:t> on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Sales</a:t>
            </a:r>
            <a:r>
              <a:rPr lang="fi-FI" dirty="0"/>
              <a:t> Data</a:t>
            </a:r>
          </a:p>
          <a:p>
            <a:r>
              <a:rPr lang="fi-FI" dirty="0"/>
              <a:t>Dataset </a:t>
            </a:r>
            <a:r>
              <a:rPr lang="fi-FI" dirty="0" err="1"/>
              <a:t>obtained</a:t>
            </a:r>
            <a:r>
              <a:rPr lang="fi-FI" dirty="0"/>
              <a:t> </a:t>
            </a:r>
            <a:r>
              <a:rPr lang="fi-FI" dirty="0" err="1"/>
              <a:t>from</a:t>
            </a:r>
            <a:r>
              <a:rPr lang="fi-FI" dirty="0"/>
              <a:t> </a:t>
            </a:r>
            <a:r>
              <a:rPr lang="fi-FI" dirty="0" err="1"/>
              <a:t>Kaggle</a:t>
            </a:r>
            <a:r>
              <a:rPr lang="fi-FI" dirty="0"/>
              <a:t>,</a:t>
            </a:r>
            <a:br>
              <a:rPr lang="fi-FI" dirty="0"/>
            </a:br>
            <a:r>
              <a:rPr lang="fi-FI" dirty="0" err="1"/>
              <a:t>contains</a:t>
            </a:r>
            <a:r>
              <a:rPr lang="fi-FI" dirty="0"/>
              <a:t> </a:t>
            </a:r>
            <a:r>
              <a:rPr lang="fi-FI" dirty="0" err="1"/>
              <a:t>customer</a:t>
            </a:r>
            <a:br>
              <a:rPr lang="fi-FI" dirty="0"/>
            </a:br>
            <a:r>
              <a:rPr lang="fi-FI" dirty="0" err="1"/>
              <a:t>segmentation</a:t>
            </a:r>
            <a:r>
              <a:rPr lang="fi-FI" dirty="0"/>
              <a:t> </a:t>
            </a:r>
            <a:r>
              <a:rPr lang="fi-FI" dirty="0" err="1"/>
              <a:t>details</a:t>
            </a:r>
            <a:endParaRPr lang="fi-FI" dirty="0"/>
          </a:p>
          <a:p>
            <a:r>
              <a:rPr lang="fi-FI" dirty="0"/>
              <a:t>~542k </a:t>
            </a:r>
            <a:r>
              <a:rPr lang="fi-FI" dirty="0" err="1"/>
              <a:t>rows</a:t>
            </a:r>
            <a:endParaRPr lang="fi-FI" dirty="0"/>
          </a:p>
          <a:p>
            <a:r>
              <a:rPr lang="fi-FI" dirty="0" err="1"/>
              <a:t>Ordering</a:t>
            </a:r>
            <a:r>
              <a:rPr lang="fi-FI" dirty="0"/>
              <a:t> </a:t>
            </a:r>
            <a:r>
              <a:rPr lang="fi-FI" dirty="0" err="1"/>
              <a:t>countries</a:t>
            </a:r>
            <a:r>
              <a:rPr lang="fi-FI" dirty="0"/>
              <a:t> </a:t>
            </a:r>
            <a:r>
              <a:rPr lang="fi-FI" dirty="0" err="1"/>
              <a:t>mainly</a:t>
            </a:r>
            <a:r>
              <a:rPr lang="fi-FI" dirty="0"/>
              <a:t> in</a:t>
            </a:r>
            <a:br>
              <a:rPr lang="fi-FI" dirty="0"/>
            </a:br>
            <a:r>
              <a:rPr lang="fi-FI" dirty="0"/>
              <a:t>Europe/UK</a:t>
            </a:r>
          </a:p>
          <a:p>
            <a:r>
              <a:rPr lang="fi-FI" dirty="0"/>
              <a:t>4367 </a:t>
            </a:r>
            <a:r>
              <a:rPr lang="fi-FI" dirty="0" err="1"/>
              <a:t>customers</a:t>
            </a:r>
            <a:r>
              <a:rPr lang="fi-FI" dirty="0"/>
              <a:t>, </a:t>
            </a:r>
            <a:r>
              <a:rPr lang="fi-FI" dirty="0" err="1"/>
              <a:t>later</a:t>
            </a:r>
            <a:r>
              <a:rPr lang="fi-FI" dirty="0"/>
              <a:t> </a:t>
            </a:r>
            <a:r>
              <a:rPr lang="fi-FI" dirty="0" err="1"/>
              <a:t>cleaned</a:t>
            </a:r>
            <a:r>
              <a:rPr lang="fi-FI" dirty="0"/>
              <a:t> and </a:t>
            </a:r>
            <a:r>
              <a:rPr lang="fi-FI" dirty="0" err="1"/>
              <a:t>reduced</a:t>
            </a:r>
            <a:r>
              <a:rPr lang="fi-FI" dirty="0"/>
              <a:t> to 4315 for </a:t>
            </a:r>
            <a:r>
              <a:rPr lang="fi-FI" dirty="0" err="1"/>
              <a:t>improved</a:t>
            </a:r>
            <a:r>
              <a:rPr lang="fi-FI" dirty="0"/>
              <a:t> feature </a:t>
            </a:r>
            <a:r>
              <a:rPr lang="fi-FI" dirty="0" err="1"/>
              <a:t>extraction</a:t>
            </a:r>
            <a:endParaRPr lang="fi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04BEC-FD28-D074-69FB-5FF70C0C1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2110C9-A868-0974-3743-567ED53F0A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0712" y="481965"/>
            <a:ext cx="7460828" cy="4501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645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43E11-4EBC-0408-B526-C044F38B2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Skills</a:t>
            </a:r>
            <a:r>
              <a:rPr lang="fi-FI" dirty="0"/>
              <a:t> </a:t>
            </a:r>
            <a:r>
              <a:rPr lang="fi-FI" dirty="0" err="1"/>
              <a:t>utilised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1ECA5-3BD7-6B7E-8E22-7E59E4AB1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Data Processing: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i-FI" dirty="0"/>
              <a:t> </a:t>
            </a:r>
            <a:r>
              <a:rPr lang="fi-FI" dirty="0" err="1"/>
              <a:t>Attain</a:t>
            </a:r>
            <a:r>
              <a:rPr lang="fi-FI" dirty="0"/>
              <a:t> </a:t>
            </a:r>
            <a:r>
              <a:rPr lang="fi-FI" dirty="0" err="1"/>
              <a:t>clean</a:t>
            </a:r>
            <a:r>
              <a:rPr lang="fi-FI" dirty="0"/>
              <a:t> </a:t>
            </a:r>
            <a:r>
              <a:rPr lang="fi-FI" dirty="0" err="1"/>
              <a:t>usable</a:t>
            </a:r>
            <a:r>
              <a:rPr lang="fi-FI" dirty="0"/>
              <a:t> data, </a:t>
            </a:r>
            <a:r>
              <a:rPr lang="fi-FI" dirty="0" err="1"/>
              <a:t>get</a:t>
            </a:r>
            <a:r>
              <a:rPr lang="fi-FI" dirty="0"/>
              <a:t> </a:t>
            </a:r>
            <a:r>
              <a:rPr lang="fi-FI" dirty="0" err="1"/>
              <a:t>visualisations</a:t>
            </a:r>
            <a:r>
              <a:rPr lang="fi-FI" dirty="0"/>
              <a:t>, </a:t>
            </a:r>
            <a:r>
              <a:rPr lang="fi-FI" dirty="0" err="1"/>
              <a:t>perform</a:t>
            </a:r>
            <a:r>
              <a:rPr lang="fi-FI" dirty="0"/>
              <a:t> </a:t>
            </a:r>
            <a:r>
              <a:rPr lang="fi-FI" dirty="0" err="1"/>
              <a:t>machine</a:t>
            </a:r>
            <a:r>
              <a:rPr lang="fi-FI" dirty="0"/>
              <a:t> </a:t>
            </a:r>
            <a:r>
              <a:rPr lang="fi-FI" dirty="0" err="1"/>
              <a:t>learning</a:t>
            </a:r>
            <a:r>
              <a:rPr lang="fi-FI" dirty="0"/>
              <a:t> </a:t>
            </a:r>
            <a:r>
              <a:rPr lang="fi-FI" dirty="0" err="1"/>
              <a:t>analysis</a:t>
            </a:r>
            <a:r>
              <a:rPr lang="fi-FI" dirty="0"/>
              <a:t> and </a:t>
            </a:r>
            <a:br>
              <a:rPr lang="fi-FI" dirty="0"/>
            </a:br>
            <a:r>
              <a:rPr lang="fi-FI" dirty="0" err="1"/>
              <a:t>develop</a:t>
            </a:r>
            <a:r>
              <a:rPr lang="fi-FI" dirty="0"/>
              <a:t> </a:t>
            </a:r>
            <a:r>
              <a:rPr lang="fi-FI" dirty="0" err="1"/>
              <a:t>dashboards</a:t>
            </a:r>
            <a:r>
              <a:rPr lang="fi-FI" dirty="0"/>
              <a:t>, to </a:t>
            </a:r>
            <a:r>
              <a:rPr lang="fi-FI" dirty="0" err="1"/>
              <a:t>visualise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data, </a:t>
            </a:r>
            <a:r>
              <a:rPr lang="fi-FI" dirty="0" err="1"/>
              <a:t>increase</a:t>
            </a:r>
            <a:r>
              <a:rPr lang="fi-FI" dirty="0"/>
              <a:t> </a:t>
            </a:r>
            <a:r>
              <a:rPr lang="fi-FI" dirty="0" err="1"/>
              <a:t>sales</a:t>
            </a:r>
            <a:r>
              <a:rPr lang="fi-FI" dirty="0"/>
              <a:t>, </a:t>
            </a:r>
            <a:r>
              <a:rPr lang="fi-FI" dirty="0" err="1"/>
              <a:t>retain</a:t>
            </a:r>
            <a:r>
              <a:rPr lang="fi-FI" dirty="0"/>
              <a:t> </a:t>
            </a:r>
            <a:r>
              <a:rPr lang="fi-FI" dirty="0" err="1"/>
              <a:t>customers</a:t>
            </a:r>
            <a:r>
              <a:rPr lang="fi-FI" dirty="0"/>
              <a:t>.</a:t>
            </a:r>
          </a:p>
          <a:p>
            <a:endParaRPr lang="fi-FI" dirty="0"/>
          </a:p>
          <a:p>
            <a:r>
              <a:rPr lang="fi-FI" dirty="0"/>
              <a:t>ML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i-FI" dirty="0" err="1"/>
              <a:t>Ethics</a:t>
            </a:r>
            <a:r>
              <a:rPr lang="fi-FI" dirty="0"/>
              <a:t> of </a:t>
            </a:r>
            <a:r>
              <a:rPr lang="fi-FI" dirty="0" err="1"/>
              <a:t>using</a:t>
            </a:r>
            <a:r>
              <a:rPr lang="fi-FI" dirty="0"/>
              <a:t> AI for </a:t>
            </a:r>
            <a:r>
              <a:rPr lang="fi-FI" dirty="0" err="1"/>
              <a:t>during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process</a:t>
            </a:r>
            <a:r>
              <a:rPr lang="fi-FI" dirty="0"/>
              <a:t>, data </a:t>
            </a:r>
            <a:r>
              <a:rPr lang="fi-FI" dirty="0" err="1"/>
              <a:t>safety</a:t>
            </a:r>
            <a:r>
              <a:rPr lang="fi-FI" dirty="0"/>
              <a:t>/</a:t>
            </a:r>
            <a:r>
              <a:rPr lang="fi-FI" dirty="0" err="1"/>
              <a:t>security</a:t>
            </a:r>
            <a:r>
              <a:rPr lang="fi-FI" dirty="0"/>
              <a:t> and </a:t>
            </a:r>
            <a:r>
              <a:rPr lang="fi-FI" dirty="0" err="1"/>
              <a:t>privacy</a:t>
            </a:r>
            <a:endParaRPr lang="fi-FI" dirty="0"/>
          </a:p>
          <a:p>
            <a:r>
              <a:rPr lang="fi-FI" dirty="0"/>
              <a:t>ML </a:t>
            </a:r>
            <a:r>
              <a:rPr lang="fi-FI" dirty="0" err="1"/>
              <a:t>Models</a:t>
            </a:r>
            <a:endParaRPr lang="fi-FI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fi-FI" dirty="0" err="1"/>
              <a:t>Logistic</a:t>
            </a:r>
            <a:r>
              <a:rPr lang="fi-FI" dirty="0"/>
              <a:t> Regression, </a:t>
            </a:r>
            <a:r>
              <a:rPr lang="fi-FI" dirty="0" err="1"/>
              <a:t>Decision</a:t>
            </a:r>
            <a:r>
              <a:rPr lang="fi-FI" dirty="0"/>
              <a:t> </a:t>
            </a:r>
            <a:r>
              <a:rPr lang="fi-FI" dirty="0" err="1"/>
              <a:t>Trees</a:t>
            </a:r>
            <a:r>
              <a:rPr lang="fi-FI" dirty="0"/>
              <a:t>, Random </a:t>
            </a:r>
            <a:r>
              <a:rPr lang="fi-FI" dirty="0" err="1"/>
              <a:t>Forest</a:t>
            </a:r>
            <a:r>
              <a:rPr lang="fi-FI" dirty="0"/>
              <a:t>, K-</a:t>
            </a:r>
            <a:r>
              <a:rPr lang="fi-FI" dirty="0" err="1"/>
              <a:t>Means</a:t>
            </a:r>
            <a:r>
              <a:rPr lang="fi-FI" dirty="0"/>
              <a:t> Clustering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B64A5-E4A6-2BFF-CE06-B05D2956E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125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DFC18-766E-498A-067A-308D8A7DB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623" y="561594"/>
            <a:ext cx="3111627" cy="1565910"/>
          </a:xfrm>
        </p:spPr>
        <p:txBody>
          <a:bodyPr>
            <a:normAutofit fontScale="90000"/>
          </a:bodyPr>
          <a:lstStyle/>
          <a:p>
            <a:r>
              <a:rPr lang="fi-FI" dirty="0"/>
              <a:t>Data</a:t>
            </a:r>
            <a:br>
              <a:rPr lang="fi-FI" dirty="0"/>
            </a:br>
            <a:r>
              <a:rPr lang="fi-FI" dirty="0" err="1"/>
              <a:t>cleaning</a:t>
            </a:r>
            <a:br>
              <a:rPr lang="fi-FI" dirty="0"/>
            </a:br>
            <a:r>
              <a:rPr lang="fi-FI" dirty="0"/>
              <a:t>and </a:t>
            </a:r>
            <a:r>
              <a:rPr lang="fi-FI" dirty="0" err="1"/>
              <a:t>basic</a:t>
            </a:r>
            <a:br>
              <a:rPr lang="fi-FI" dirty="0"/>
            </a:br>
            <a:r>
              <a:rPr lang="fi-FI" dirty="0" err="1"/>
              <a:t>insights</a:t>
            </a:r>
            <a:endParaRPr lang="fi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502E6-6BEC-E0D9-EDC3-C1B581AB6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27EE54-5C0C-FE9C-867A-96892225B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5"/>
          <a:stretch>
            <a:fillRect/>
          </a:stretch>
        </p:blipFill>
        <p:spPr>
          <a:xfrm>
            <a:off x="2459736" y="237744"/>
            <a:ext cx="9387029" cy="4746110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D9121AF-30D6-566D-CE2A-6ABF20966F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47" y="2761977"/>
            <a:ext cx="4382428" cy="36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070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3A408-97C6-2D16-16FC-7CFC402B1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3C02AC-BDBA-997A-67D0-2CAAB7CC88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596"/>
            <a:ext cx="10869152" cy="62494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484357-4663-B67F-3F97-B28CB00D0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7423" y="5016645"/>
            <a:ext cx="6181426" cy="1132258"/>
          </a:xfrm>
        </p:spPr>
        <p:txBody>
          <a:bodyPr/>
          <a:lstStyle/>
          <a:p>
            <a:r>
              <a:rPr lang="fi-FI" dirty="0" err="1"/>
              <a:t>Database</a:t>
            </a:r>
            <a:r>
              <a:rPr lang="fi-FI" dirty="0"/>
              <a:t> and </a:t>
            </a:r>
            <a:r>
              <a:rPr lang="fi-FI" dirty="0" err="1"/>
              <a:t>querying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A22C4-29DB-7AA1-0DFD-60307851C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423" y="5590626"/>
            <a:ext cx="2873503" cy="1418193"/>
          </a:xfrm>
        </p:spPr>
        <p:txBody>
          <a:bodyPr/>
          <a:lstStyle/>
          <a:p>
            <a:r>
              <a:rPr lang="fi-FI" dirty="0"/>
              <a:t>DB </a:t>
            </a:r>
            <a:r>
              <a:rPr lang="fi-FI" dirty="0" err="1"/>
              <a:t>Browser</a:t>
            </a:r>
            <a:r>
              <a:rPr lang="fi-FI" dirty="0"/>
              <a:t> for </a:t>
            </a:r>
            <a:r>
              <a:rPr lang="fi-FI" dirty="0" err="1"/>
              <a:t>SQLIte</a:t>
            </a:r>
            <a:endParaRPr lang="fi-FI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04D56F-B169-0728-6FC0-EA680EB0F3E6}"/>
              </a:ext>
            </a:extLst>
          </p:cNvPr>
          <p:cNvSpPr txBox="1">
            <a:spLocks/>
          </p:cNvSpPr>
          <p:nvPr/>
        </p:nvSpPr>
        <p:spPr>
          <a:xfrm>
            <a:off x="7160053" y="5582774"/>
            <a:ext cx="3350879" cy="1418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i-FI" dirty="0" err="1"/>
              <a:t>Executed</a:t>
            </a:r>
            <a:r>
              <a:rPr lang="fi-FI" dirty="0"/>
              <a:t> 9 </a:t>
            </a:r>
            <a:r>
              <a:rPr lang="fi-FI" dirty="0" err="1"/>
              <a:t>different</a:t>
            </a:r>
            <a:r>
              <a:rPr lang="fi-FI" dirty="0"/>
              <a:t> SQL </a:t>
            </a:r>
            <a:r>
              <a:rPr lang="fi-FI" dirty="0" err="1"/>
              <a:t>queries</a:t>
            </a:r>
            <a:r>
              <a:rPr lang="fi-FI" dirty="0"/>
              <a:t> to </a:t>
            </a:r>
            <a:r>
              <a:rPr lang="fi-FI" dirty="0" err="1"/>
              <a:t>extract</a:t>
            </a:r>
            <a:r>
              <a:rPr lang="fi-FI" dirty="0"/>
              <a:t> </a:t>
            </a:r>
            <a:r>
              <a:rPr lang="fi-FI" dirty="0" err="1"/>
              <a:t>deep</a:t>
            </a:r>
            <a:r>
              <a:rPr lang="fi-FI" dirty="0"/>
              <a:t> </a:t>
            </a:r>
            <a:r>
              <a:rPr lang="fi-FI" dirty="0" err="1"/>
              <a:t>insights</a:t>
            </a:r>
            <a:endParaRPr lang="fi-FI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56DF33-21E0-5382-419D-E6240C828445}"/>
              </a:ext>
            </a:extLst>
          </p:cNvPr>
          <p:cNvGrpSpPr/>
          <p:nvPr/>
        </p:nvGrpSpPr>
        <p:grpSpPr>
          <a:xfrm>
            <a:off x="2345220" y="542955"/>
            <a:ext cx="808200" cy="163800"/>
            <a:chOff x="2345220" y="542955"/>
            <a:chExt cx="808200" cy="16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8A6B857-4474-7070-0A2F-7FEC39F6EF2C}"/>
                    </a:ext>
                  </a:extLst>
                </p14:cNvPr>
                <p14:cNvContentPartPr/>
                <p14:nvPr/>
              </p14:nvContentPartPr>
              <p14:xfrm>
                <a:off x="2345220" y="542955"/>
                <a:ext cx="169560" cy="163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8A6B857-4474-7070-0A2F-7FEC39F6EF2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327580" y="524955"/>
                  <a:ext cx="2052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CBFEC1E-2BA0-0A8E-5E2F-67683E051898}"/>
                    </a:ext>
                  </a:extLst>
                </p14:cNvPr>
                <p14:cNvContentPartPr/>
                <p14:nvPr/>
              </p14:nvContentPartPr>
              <p14:xfrm>
                <a:off x="2362140" y="599475"/>
                <a:ext cx="791280" cy="19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CBFEC1E-2BA0-0A8E-5E2F-67683E05189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344500" y="581475"/>
                  <a:ext cx="826920" cy="55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16401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D8BBA96-4F45-67BF-7DFD-1D0D942A61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065" y="22153"/>
            <a:ext cx="4767924" cy="683584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D20E-771F-8519-27FF-67E828CCA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4D1AF9-3B79-59A6-2D17-D858BA589E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513" y="-11078"/>
            <a:ext cx="5225906" cy="6858000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6BD8647A-25A4-EDBB-BD99-7E7B67566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8872"/>
            <a:ext cx="1848283" cy="1342570"/>
          </a:xfrm>
        </p:spPr>
        <p:txBody>
          <a:bodyPr>
            <a:normAutofit/>
          </a:bodyPr>
          <a:lstStyle/>
          <a:p>
            <a:r>
              <a:rPr lang="fi-FI" sz="2800" dirty="0" err="1"/>
              <a:t>Query</a:t>
            </a:r>
            <a:r>
              <a:rPr lang="fi-FI" sz="2800" dirty="0"/>
              <a:t> </a:t>
            </a:r>
            <a:r>
              <a:rPr lang="fi-FI" sz="2800" dirty="0" err="1"/>
              <a:t>Example</a:t>
            </a:r>
            <a:endParaRPr lang="fi-FI" sz="2800" dirty="0"/>
          </a:p>
        </p:txBody>
      </p:sp>
    </p:spTree>
    <p:extLst>
      <p:ext uri="{BB962C8B-B14F-4D97-AF65-F5344CB8AC3E}">
        <p14:creationId xmlns:p14="http://schemas.microsoft.com/office/powerpoint/2010/main" val="1079613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76E3C-D430-5B13-B197-74E630643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2721102" cy="1132258"/>
          </a:xfrm>
        </p:spPr>
        <p:txBody>
          <a:bodyPr/>
          <a:lstStyle/>
          <a:p>
            <a:r>
              <a:rPr lang="fi-FI" dirty="0" err="1"/>
              <a:t>Extracted</a:t>
            </a:r>
            <a:br>
              <a:rPr lang="fi-FI" dirty="0"/>
            </a:br>
            <a:r>
              <a:rPr lang="fi-FI" dirty="0" err="1"/>
              <a:t>Insights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0DF9F-B63C-69BE-C6AF-191A549C5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RFM Analysis</a:t>
            </a:r>
          </a:p>
          <a:p>
            <a:r>
              <a:rPr lang="fi-FI" dirty="0" err="1"/>
              <a:t>Recency</a:t>
            </a:r>
            <a:r>
              <a:rPr lang="fi-FI" dirty="0"/>
              <a:t>, </a:t>
            </a:r>
            <a:r>
              <a:rPr lang="fi-FI" dirty="0" err="1"/>
              <a:t>Frequency</a:t>
            </a:r>
            <a:r>
              <a:rPr lang="fi-FI" dirty="0"/>
              <a:t>,</a:t>
            </a:r>
            <a:br>
              <a:rPr lang="fi-FI" dirty="0"/>
            </a:br>
            <a:r>
              <a:rPr lang="fi-FI" dirty="0" err="1"/>
              <a:t>Monetary</a:t>
            </a:r>
            <a:endParaRPr lang="fi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DAC22-F83D-19F7-38F8-9243F04B5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F9C5CE-EB87-6F95-982C-7A45D9369B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" t="947"/>
          <a:stretch>
            <a:fillRect/>
          </a:stretch>
        </p:blipFill>
        <p:spPr>
          <a:xfrm>
            <a:off x="3548048" y="548640"/>
            <a:ext cx="7718178" cy="5139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404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F8F48-9A28-22F9-F48B-3B9D71F7A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" y="0"/>
            <a:ext cx="2637974" cy="718185"/>
          </a:xfrm>
        </p:spPr>
        <p:txBody>
          <a:bodyPr/>
          <a:lstStyle/>
          <a:p>
            <a:r>
              <a:rPr lang="fi-FI" dirty="0"/>
              <a:t>ML </a:t>
            </a:r>
            <a:r>
              <a:rPr lang="fi-FI" dirty="0" err="1"/>
              <a:t>Models</a:t>
            </a:r>
            <a:endParaRPr lang="fi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A9ACC-186E-1F28-FA4A-BD3F62400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74247E-C850-B6D6-6A1E-44EE921B9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79" y="2714625"/>
            <a:ext cx="9065646" cy="4143375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38619B0-89B7-D477-A0A1-01B1DE4216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5225" y="39872"/>
            <a:ext cx="4331540" cy="348205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CB29C96-E69E-E33B-37D3-DF1714C8E01C}"/>
              </a:ext>
            </a:extLst>
          </p:cNvPr>
          <p:cNvSpPr txBox="1">
            <a:spLocks/>
          </p:cNvSpPr>
          <p:nvPr/>
        </p:nvSpPr>
        <p:spPr>
          <a:xfrm>
            <a:off x="5224688" y="359092"/>
            <a:ext cx="2290537" cy="7181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 sz="1800" b="0" dirty="0" err="1"/>
              <a:t>Logistic</a:t>
            </a:r>
            <a:r>
              <a:rPr lang="fi-FI" sz="1800" b="0" dirty="0"/>
              <a:t> Regression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253B9A4-880D-9DEA-036B-BBBD4183B798}"/>
              </a:ext>
            </a:extLst>
          </p:cNvPr>
          <p:cNvSpPr txBox="1">
            <a:spLocks/>
          </p:cNvSpPr>
          <p:nvPr/>
        </p:nvSpPr>
        <p:spPr>
          <a:xfrm>
            <a:off x="677602" y="2266950"/>
            <a:ext cx="1903674" cy="4476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 sz="1800" b="0" dirty="0" err="1"/>
              <a:t>Decision</a:t>
            </a:r>
            <a:r>
              <a:rPr lang="fi-FI" sz="1800" b="0" dirty="0"/>
              <a:t> </a:t>
            </a:r>
            <a:r>
              <a:rPr lang="fi-FI" sz="1800" b="0" dirty="0" err="1"/>
              <a:t>Tree</a:t>
            </a:r>
            <a:endParaRPr lang="fi-FI" sz="1800" b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7B6079F-383A-C9CE-7F07-F8187DB90A9D}"/>
              </a:ext>
            </a:extLst>
          </p:cNvPr>
          <p:cNvSpPr txBox="1">
            <a:spLocks/>
          </p:cNvSpPr>
          <p:nvPr/>
        </p:nvSpPr>
        <p:spPr>
          <a:xfrm>
            <a:off x="345235" y="774382"/>
            <a:ext cx="2290537" cy="7181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 sz="1800" b="0" u="sng" dirty="0" err="1"/>
              <a:t>Churn</a:t>
            </a:r>
            <a:r>
              <a:rPr lang="fi-FI" sz="1800" b="0" dirty="0"/>
              <a:t> </a:t>
            </a:r>
            <a:r>
              <a:rPr lang="fi-FI" sz="1800" b="0" dirty="0" err="1"/>
              <a:t>was</a:t>
            </a:r>
            <a:r>
              <a:rPr lang="fi-FI" sz="1800" b="0" dirty="0"/>
              <a:t> </a:t>
            </a:r>
            <a:r>
              <a:rPr lang="fi-FI" sz="1800" b="0" dirty="0" err="1"/>
              <a:t>the</a:t>
            </a:r>
            <a:r>
              <a:rPr lang="fi-FI" sz="1800" b="0" dirty="0"/>
              <a:t> main </a:t>
            </a:r>
            <a:r>
              <a:rPr lang="fi-FI" sz="1800" b="0" dirty="0" err="1"/>
              <a:t>metric</a:t>
            </a:r>
            <a:r>
              <a:rPr lang="fi-FI" sz="1800" b="0" dirty="0"/>
              <a:t> </a:t>
            </a:r>
            <a:r>
              <a:rPr lang="fi-FI" sz="1800" b="0" dirty="0" err="1"/>
              <a:t>which</a:t>
            </a:r>
            <a:r>
              <a:rPr lang="fi-FI" sz="1800" b="0" dirty="0"/>
              <a:t> </a:t>
            </a:r>
            <a:r>
              <a:rPr lang="fi-FI" sz="1800" b="0" dirty="0" err="1"/>
              <a:t>has</a:t>
            </a:r>
            <a:r>
              <a:rPr lang="fi-FI" sz="1800" b="0" dirty="0"/>
              <a:t> </a:t>
            </a:r>
            <a:r>
              <a:rPr lang="fi-FI" sz="1800" b="0" dirty="0" err="1"/>
              <a:t>been</a:t>
            </a:r>
            <a:r>
              <a:rPr lang="fi-FI" sz="1800" b="0" dirty="0"/>
              <a:t> </a:t>
            </a:r>
            <a:r>
              <a:rPr lang="fi-FI" sz="1800" b="0" dirty="0" err="1"/>
              <a:t>used</a:t>
            </a:r>
            <a:r>
              <a:rPr lang="fi-FI" sz="1800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10695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C21D0DB-B962-711D-ECA1-04D3FE5105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210"/>
          <a:stretch>
            <a:fillRect/>
          </a:stretch>
        </p:blipFill>
        <p:spPr>
          <a:xfrm>
            <a:off x="171450" y="1"/>
            <a:ext cx="6848059" cy="44328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26B58-BE10-5BB0-9E61-14669935D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9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5A255C-FEB9-B810-1EAF-0B85C5E9F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9509" y="766716"/>
            <a:ext cx="5172491" cy="44866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88A511-FA61-DC8D-0AE5-723A835582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2325"/>
          <a:stretch>
            <a:fillRect/>
          </a:stretch>
        </p:blipFill>
        <p:spPr>
          <a:xfrm>
            <a:off x="2842396" y="3109884"/>
            <a:ext cx="4177113" cy="334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597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8F33-1769-0D9C-CF8E-51057C733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Model</a:t>
            </a:r>
            <a:r>
              <a:rPr lang="fi-FI" dirty="0"/>
              <a:t> Performance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DC682BD-08E9-2488-6882-1E745C423F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3080" y="1114769"/>
            <a:ext cx="9356506" cy="463855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3E7A0-A3BF-5A7F-C0DB-4F30A26A5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10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C21897C-7207-160F-C0D4-1B67FFF73D6D}"/>
              </a:ext>
            </a:extLst>
          </p:cNvPr>
          <p:cNvSpPr txBox="1">
            <a:spLocks/>
          </p:cNvSpPr>
          <p:nvPr/>
        </p:nvSpPr>
        <p:spPr>
          <a:xfrm>
            <a:off x="181048" y="5503306"/>
            <a:ext cx="671352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 sz="2800" b="0" dirty="0" err="1"/>
              <a:t>Final</a:t>
            </a:r>
            <a:r>
              <a:rPr lang="fi-FI" sz="2800" b="0" dirty="0"/>
              <a:t> </a:t>
            </a:r>
            <a:r>
              <a:rPr lang="fi-FI" sz="2800" b="0" dirty="0" err="1"/>
              <a:t>Selection</a:t>
            </a:r>
            <a:r>
              <a:rPr lang="fi-FI" sz="2800" b="0" dirty="0"/>
              <a:t>:</a:t>
            </a:r>
          </a:p>
          <a:p>
            <a:r>
              <a:rPr lang="fi-FI" sz="2800" b="0" dirty="0"/>
              <a:t>	</a:t>
            </a:r>
            <a:r>
              <a:rPr lang="fi-FI" sz="2800" b="0" dirty="0" err="1"/>
              <a:t>Logistic</a:t>
            </a:r>
            <a:r>
              <a:rPr lang="fi-FI" sz="2800" b="0" dirty="0"/>
              <a:t> Regression </a:t>
            </a:r>
            <a:r>
              <a:rPr lang="fi-FI" sz="2800" b="0" dirty="0" err="1"/>
              <a:t>because</a:t>
            </a:r>
            <a:r>
              <a:rPr lang="fi-FI" sz="2800" b="0" dirty="0"/>
              <a:t> of</a:t>
            </a:r>
            <a:br>
              <a:rPr lang="fi-FI" sz="2800" b="0" dirty="0"/>
            </a:br>
            <a:r>
              <a:rPr lang="fi-FI" sz="2800" b="0" dirty="0"/>
              <a:t>	</a:t>
            </a:r>
            <a:r>
              <a:rPr lang="fi-FI" sz="2800" b="0" dirty="0" err="1"/>
              <a:t>the</a:t>
            </a:r>
            <a:r>
              <a:rPr lang="fi-FI" sz="2800" b="0" dirty="0"/>
              <a:t> </a:t>
            </a:r>
            <a:r>
              <a:rPr lang="fi-FI" sz="2800" b="0" dirty="0" err="1"/>
              <a:t>comparatively</a:t>
            </a:r>
            <a:r>
              <a:rPr lang="fi-FI" sz="2800" b="0" dirty="0"/>
              <a:t> </a:t>
            </a:r>
            <a:r>
              <a:rPr lang="fi-FI" sz="2800" b="0" dirty="0" err="1"/>
              <a:t>better</a:t>
            </a:r>
            <a:r>
              <a:rPr lang="fi-FI" sz="2800" b="0" dirty="0"/>
              <a:t> </a:t>
            </a:r>
            <a:r>
              <a:rPr lang="fi-FI" sz="2800" b="0" dirty="0" err="1"/>
              <a:t>Recall</a:t>
            </a:r>
            <a:r>
              <a:rPr lang="fi-FI" sz="2800" b="0" dirty="0"/>
              <a:t> (83%)</a:t>
            </a:r>
          </a:p>
        </p:txBody>
      </p:sp>
    </p:spTree>
    <p:extLst>
      <p:ext uri="{BB962C8B-B14F-4D97-AF65-F5344CB8AC3E}">
        <p14:creationId xmlns:p14="http://schemas.microsoft.com/office/powerpoint/2010/main" val="286902736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201</Words>
  <Application>Microsoft Office PowerPoint</Application>
  <PresentationFormat>Widescreen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Courier New</vt:lpstr>
      <vt:lpstr>Neue Haas Grotesk Text Pro</vt:lpstr>
      <vt:lpstr>VanillaVTI</vt:lpstr>
      <vt:lpstr>Sales Data and Predictions</vt:lpstr>
      <vt:lpstr>About the data</vt:lpstr>
      <vt:lpstr>Skills utilised</vt:lpstr>
      <vt:lpstr>Data cleaning and basic insights</vt:lpstr>
      <vt:lpstr>Database and querying</vt:lpstr>
      <vt:lpstr>Query Example</vt:lpstr>
      <vt:lpstr>Extracted Insights</vt:lpstr>
      <vt:lpstr>ML Models</vt:lpstr>
      <vt:lpstr>PowerPoint Presentation</vt:lpstr>
      <vt:lpstr>Model 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Abbas Muhammad Hashim</dc:creator>
  <cp:lastModifiedBy>Abbas Muhammad Hashim</cp:lastModifiedBy>
  <cp:revision>15</cp:revision>
  <dcterms:created xsi:type="dcterms:W3CDTF">2026-03-23T09:44:18Z</dcterms:created>
  <dcterms:modified xsi:type="dcterms:W3CDTF">2026-03-30T11:27:37Z</dcterms:modified>
</cp:coreProperties>
</file>