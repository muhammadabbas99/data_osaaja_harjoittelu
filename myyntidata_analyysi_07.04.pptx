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62" r:id="rId4"/>
    <p:sldId id="266" r:id="rId5"/>
    <p:sldId id="258" r:id="rId6"/>
    <p:sldId id="259" r:id="rId7"/>
    <p:sldId id="260" r:id="rId8"/>
    <p:sldId id="268" r:id="rId9"/>
    <p:sldId id="261" r:id="rId10"/>
    <p:sldId id="269" r:id="rId11"/>
    <p:sldId id="270" r:id="rId12"/>
    <p:sldId id="271" r:id="rId13"/>
    <p:sldId id="272" r:id="rId14"/>
    <p:sldId id="273" r:id="rId15"/>
    <p:sldId id="264" r:id="rId16"/>
    <p:sldId id="275" r:id="rId17"/>
    <p:sldId id="265" r:id="rId18"/>
    <p:sldId id="274" r:id="rId19"/>
    <p:sldId id="276" r:id="rId20"/>
    <p:sldId id="277" r:id="rId21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12:46.3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471 0 24575,'-19'3'0,"0"0"0,0 1 0,1 1 0,0 0 0,0 2 0,0 0 0,1 1 0,-28 18 0,-14 4 0,27-16 0,-64 34 0,87-42 0,-1 0 0,1 0 0,0 1 0,1 0 0,-1 1 0,1 0 0,-8 11 0,15-17 0,-1 0 0,1 0 0,0 0 0,-1 0 0,1 0 0,0 0 0,0 0 0,0 1 0,0-1 0,1 0 0,-1 1 0,1-1 0,-1 1 0,1-1 0,0 1 0,0-1 0,0 0 0,0 1 0,0-1 0,1 1 0,-1-1 0,1 1 0,0-1 0,-1 0 0,1 1 0,0-1 0,0 0 0,1 0 0,-1 0 0,0 0 0,1 0 0,1 2 0,6 5 0,0-1 0,1 0 0,0 0 0,0-2 0,16 9 0,8 7 0,47 36-1365,-58-41-5461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12:47.8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54 24575,'296'-15'0,"-140"3"0,195 11 0,-155 3 0,85 1 0,296-6 0,-435-11 89,32 0-1543,-151 14-5372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9068A3-8D85-44C6-AAD8-2C6893CBFFD1}" type="datetimeFigureOut">
              <a:rPr lang="fi-FI" smtClean="0"/>
              <a:t>7.4.2026</a:t>
            </a:fld>
            <a:endParaRPr lang="fi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8EA05-C0FD-474A-B7C8-E085D367893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180385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DD057-9C00-44D1-BC01-EEDD6769F7A9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203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CC3A4-1A46-4E97-B363-292E86FD533D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727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4CDCD-2247-4071-A772-93FE614412B9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454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F518C-BF61-4CDD-90FF-D843FCA5B2FF}" type="datetime1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703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D59EF-B17A-4F46-B446-D27DF20D1D99}" type="datetime1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679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4D121-5BD2-4986-83C5-B6AA3741F170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361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0FE45-3D2D-4720-B6D2-B716EF21CD11}" type="datetime1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54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7D990-DE0D-4B15-97EE-FE12FA796ED0}" type="datetime1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42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5E33F-BBF1-4DE1-97B3-4E0659F07D78}" type="datetime1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88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826C7-1B51-4D08-8CE8-E9D74FD6E0B3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066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F553C-FBAE-4419-8630-48B494A669D8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060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B35F2065-4641-4920-A1F2-DC9C9FD39E44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158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2.xml"/><Relationship Id="rId4" Type="http://schemas.openxmlformats.org/officeDocument/2006/relationships/image" Target="../media/image6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4BDE91-5E9E-7DAC-532E-F714B5F62B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68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95DEB6A-976D-98B6-8875-F4C240958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4800"/>
            <a:ext cx="12192000" cy="2743202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3000">
                <a:schemeClr val="bg1">
                  <a:alpha val="25000"/>
                </a:schemeClr>
              </a:gs>
              <a:gs pos="59000">
                <a:schemeClr val="bg1">
                  <a:alpha val="35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8CC691-4866-B8B0-2901-B01758D841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787" y="617220"/>
            <a:ext cx="8201790" cy="960120"/>
          </a:xfrm>
          <a:ln>
            <a:noFill/>
          </a:ln>
        </p:spPr>
        <p:txBody>
          <a:bodyPr anchor="ctr">
            <a:normAutofit fontScale="90000"/>
          </a:bodyPr>
          <a:lstStyle/>
          <a:p>
            <a:pPr algn="l"/>
            <a:r>
              <a:rPr lang="fi-FI" dirty="0" err="1">
                <a:solidFill>
                  <a:schemeClr val="bg1"/>
                </a:solidFill>
              </a:rPr>
              <a:t>Sales</a:t>
            </a:r>
            <a:r>
              <a:rPr lang="fi-FI" dirty="0">
                <a:solidFill>
                  <a:schemeClr val="bg1"/>
                </a:solidFill>
              </a:rPr>
              <a:t> Data and</a:t>
            </a:r>
            <a:br>
              <a:rPr lang="fi-FI" dirty="0">
                <a:solidFill>
                  <a:schemeClr val="bg1"/>
                </a:solidFill>
              </a:rPr>
            </a:br>
            <a:r>
              <a:rPr lang="fi-FI" dirty="0" err="1">
                <a:solidFill>
                  <a:schemeClr val="bg1"/>
                </a:solidFill>
              </a:rPr>
              <a:t>Predictions</a:t>
            </a:r>
            <a:endParaRPr lang="fi-FI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20218F-91B3-4E1C-1431-55D3CADB92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059" y="4663724"/>
            <a:ext cx="3409110" cy="950410"/>
          </a:xfrm>
        </p:spPr>
        <p:txBody>
          <a:bodyPr anchor="ctr">
            <a:normAutofit fontScale="92500" lnSpcReduction="10000"/>
          </a:bodyPr>
          <a:lstStyle/>
          <a:p>
            <a:pPr algn="r"/>
            <a:r>
              <a:rPr lang="fi-FI" sz="2400" dirty="0">
                <a:solidFill>
                  <a:schemeClr val="bg1"/>
                </a:solidFill>
              </a:rPr>
              <a:t>Muhammad Hashim</a:t>
            </a:r>
          </a:p>
          <a:p>
            <a:pPr algn="r"/>
            <a:r>
              <a:rPr lang="fi-FI" sz="2400" dirty="0">
                <a:solidFill>
                  <a:schemeClr val="bg1"/>
                </a:solidFill>
              </a:rPr>
              <a:t>Abbas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EBC737-8845-8FA3-A210-94DFFEBD7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380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0BA1E-A2F6-1F42-0C60-66E6496C8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78" y="582930"/>
            <a:ext cx="3930777" cy="1132258"/>
          </a:xfrm>
        </p:spPr>
        <p:txBody>
          <a:bodyPr/>
          <a:lstStyle/>
          <a:p>
            <a:r>
              <a:rPr lang="fi-FI" dirty="0" err="1"/>
              <a:t>About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2931B-D48A-375F-CC10-900C25554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872" y="1715532"/>
            <a:ext cx="10653579" cy="4593828"/>
          </a:xfrm>
        </p:spPr>
        <p:txBody>
          <a:bodyPr/>
          <a:lstStyle/>
          <a:p>
            <a:r>
              <a:rPr lang="fi-FI" dirty="0" err="1"/>
              <a:t>Analyse</a:t>
            </a:r>
            <a:r>
              <a:rPr lang="fi-FI" dirty="0"/>
              <a:t> and </a:t>
            </a:r>
            <a:r>
              <a:rPr lang="fi-FI" dirty="0" err="1"/>
              <a:t>build</a:t>
            </a:r>
            <a:r>
              <a:rPr lang="fi-FI" dirty="0"/>
              <a:t> </a:t>
            </a:r>
            <a:r>
              <a:rPr lang="fi-FI" dirty="0" err="1"/>
              <a:t>predictions</a:t>
            </a:r>
            <a:br>
              <a:rPr lang="fi-FI" dirty="0"/>
            </a:br>
            <a:r>
              <a:rPr lang="fi-FI" dirty="0" err="1"/>
              <a:t>based</a:t>
            </a:r>
            <a:r>
              <a:rPr lang="fi-FI" dirty="0"/>
              <a:t> on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Sales</a:t>
            </a:r>
            <a:r>
              <a:rPr lang="fi-FI" dirty="0"/>
              <a:t> Data</a:t>
            </a:r>
          </a:p>
          <a:p>
            <a:r>
              <a:rPr lang="fi-FI" dirty="0"/>
              <a:t>Dataset </a:t>
            </a:r>
            <a:r>
              <a:rPr lang="fi-FI" dirty="0" err="1"/>
              <a:t>obtained</a:t>
            </a:r>
            <a:r>
              <a:rPr lang="fi-FI" dirty="0"/>
              <a:t> </a:t>
            </a:r>
            <a:r>
              <a:rPr lang="fi-FI" dirty="0" err="1"/>
              <a:t>from</a:t>
            </a:r>
            <a:r>
              <a:rPr lang="fi-FI" dirty="0"/>
              <a:t> </a:t>
            </a:r>
            <a:r>
              <a:rPr lang="fi-FI" dirty="0" err="1"/>
              <a:t>Kaggle</a:t>
            </a:r>
            <a:r>
              <a:rPr lang="fi-FI" dirty="0"/>
              <a:t>,</a:t>
            </a:r>
            <a:br>
              <a:rPr lang="fi-FI" dirty="0"/>
            </a:br>
            <a:r>
              <a:rPr lang="fi-FI" dirty="0" err="1"/>
              <a:t>contains</a:t>
            </a:r>
            <a:r>
              <a:rPr lang="fi-FI" dirty="0"/>
              <a:t> </a:t>
            </a:r>
            <a:r>
              <a:rPr lang="fi-FI" dirty="0" err="1"/>
              <a:t>customer</a:t>
            </a:r>
            <a:br>
              <a:rPr lang="fi-FI" dirty="0"/>
            </a:br>
            <a:r>
              <a:rPr lang="fi-FI" dirty="0" err="1"/>
              <a:t>segmentation</a:t>
            </a:r>
            <a:r>
              <a:rPr lang="fi-FI" dirty="0"/>
              <a:t> </a:t>
            </a:r>
            <a:r>
              <a:rPr lang="fi-FI" dirty="0" err="1"/>
              <a:t>details</a:t>
            </a:r>
            <a:endParaRPr lang="fi-FI" dirty="0"/>
          </a:p>
          <a:p>
            <a:r>
              <a:rPr lang="fi-FI" dirty="0"/>
              <a:t>~542k </a:t>
            </a:r>
            <a:r>
              <a:rPr lang="fi-FI" dirty="0" err="1"/>
              <a:t>rows</a:t>
            </a:r>
            <a:endParaRPr lang="fi-FI" dirty="0"/>
          </a:p>
          <a:p>
            <a:r>
              <a:rPr lang="fi-FI" dirty="0" err="1"/>
              <a:t>Ordering</a:t>
            </a:r>
            <a:r>
              <a:rPr lang="fi-FI" dirty="0"/>
              <a:t> </a:t>
            </a:r>
            <a:r>
              <a:rPr lang="fi-FI" dirty="0" err="1"/>
              <a:t>countries</a:t>
            </a:r>
            <a:r>
              <a:rPr lang="fi-FI" dirty="0"/>
              <a:t> </a:t>
            </a:r>
            <a:r>
              <a:rPr lang="fi-FI" dirty="0" err="1"/>
              <a:t>mainly</a:t>
            </a:r>
            <a:r>
              <a:rPr lang="fi-FI" dirty="0"/>
              <a:t> in</a:t>
            </a:r>
            <a:br>
              <a:rPr lang="fi-FI" dirty="0"/>
            </a:br>
            <a:r>
              <a:rPr lang="fi-FI" dirty="0"/>
              <a:t>Europe/UK</a:t>
            </a:r>
          </a:p>
          <a:p>
            <a:r>
              <a:rPr lang="fi-FI" dirty="0"/>
              <a:t>4367 </a:t>
            </a:r>
            <a:r>
              <a:rPr lang="fi-FI" dirty="0" err="1"/>
              <a:t>customers</a:t>
            </a:r>
            <a:r>
              <a:rPr lang="fi-FI" dirty="0"/>
              <a:t>, </a:t>
            </a:r>
            <a:r>
              <a:rPr lang="fi-FI" dirty="0" err="1"/>
              <a:t>later</a:t>
            </a:r>
            <a:r>
              <a:rPr lang="fi-FI" dirty="0"/>
              <a:t> </a:t>
            </a:r>
            <a:r>
              <a:rPr lang="fi-FI" dirty="0" err="1"/>
              <a:t>cleaned</a:t>
            </a:r>
            <a:r>
              <a:rPr lang="fi-FI" dirty="0"/>
              <a:t> and </a:t>
            </a:r>
            <a:r>
              <a:rPr lang="fi-FI" dirty="0" err="1"/>
              <a:t>reduced</a:t>
            </a:r>
            <a:r>
              <a:rPr lang="fi-FI" dirty="0"/>
              <a:t> to 4315 for </a:t>
            </a:r>
            <a:r>
              <a:rPr lang="fi-FI" dirty="0" err="1"/>
              <a:t>improved</a:t>
            </a:r>
            <a:r>
              <a:rPr lang="fi-FI" dirty="0"/>
              <a:t> feature </a:t>
            </a:r>
            <a:r>
              <a:rPr lang="fi-FI" dirty="0" err="1"/>
              <a:t>extraction</a:t>
            </a:r>
            <a:endParaRPr lang="fi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04BEC-FD28-D074-69FB-5FF70C0C1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2110C9-A868-0974-3743-567ED53F0A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712" y="481965"/>
            <a:ext cx="7460828" cy="4501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645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43E11-4EBC-0408-B526-C044F38B2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Skills</a:t>
            </a:r>
            <a:r>
              <a:rPr lang="fi-FI" dirty="0"/>
              <a:t> </a:t>
            </a:r>
            <a:r>
              <a:rPr lang="fi-FI" dirty="0" err="1"/>
              <a:t>utilised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1ECA5-3BD7-6B7E-8E22-7E59E4AB1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Data Processing: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i-FI" dirty="0"/>
              <a:t> </a:t>
            </a:r>
            <a:r>
              <a:rPr lang="fi-FI" dirty="0" err="1"/>
              <a:t>Attain</a:t>
            </a:r>
            <a:r>
              <a:rPr lang="fi-FI" dirty="0"/>
              <a:t> </a:t>
            </a:r>
            <a:r>
              <a:rPr lang="fi-FI" dirty="0" err="1"/>
              <a:t>clean</a:t>
            </a:r>
            <a:r>
              <a:rPr lang="fi-FI" dirty="0"/>
              <a:t> </a:t>
            </a:r>
            <a:r>
              <a:rPr lang="fi-FI" dirty="0" err="1"/>
              <a:t>usable</a:t>
            </a:r>
            <a:r>
              <a:rPr lang="fi-FI" dirty="0"/>
              <a:t> data, </a:t>
            </a:r>
            <a:r>
              <a:rPr lang="fi-FI" dirty="0" err="1"/>
              <a:t>get</a:t>
            </a:r>
            <a:r>
              <a:rPr lang="fi-FI" dirty="0"/>
              <a:t> </a:t>
            </a:r>
            <a:r>
              <a:rPr lang="fi-FI" dirty="0" err="1"/>
              <a:t>visualisations</a:t>
            </a:r>
            <a:r>
              <a:rPr lang="fi-FI" dirty="0"/>
              <a:t>, </a:t>
            </a:r>
            <a:r>
              <a:rPr lang="fi-FI" dirty="0" err="1"/>
              <a:t>perform</a:t>
            </a:r>
            <a:r>
              <a:rPr lang="fi-FI" dirty="0"/>
              <a:t> </a:t>
            </a:r>
            <a:r>
              <a:rPr lang="fi-FI" dirty="0" err="1"/>
              <a:t>machine</a:t>
            </a:r>
            <a:r>
              <a:rPr lang="fi-FI" dirty="0"/>
              <a:t> </a:t>
            </a:r>
            <a:r>
              <a:rPr lang="fi-FI" dirty="0" err="1"/>
              <a:t>learning</a:t>
            </a:r>
            <a:r>
              <a:rPr lang="fi-FI" dirty="0"/>
              <a:t> </a:t>
            </a:r>
            <a:r>
              <a:rPr lang="fi-FI" dirty="0" err="1"/>
              <a:t>analysis</a:t>
            </a:r>
            <a:r>
              <a:rPr lang="fi-FI" dirty="0"/>
              <a:t> and </a:t>
            </a:r>
            <a:br>
              <a:rPr lang="fi-FI" dirty="0"/>
            </a:br>
            <a:r>
              <a:rPr lang="fi-FI" dirty="0" err="1"/>
              <a:t>develop</a:t>
            </a:r>
            <a:r>
              <a:rPr lang="fi-FI" dirty="0"/>
              <a:t> </a:t>
            </a:r>
            <a:r>
              <a:rPr lang="fi-FI" dirty="0" err="1"/>
              <a:t>dashboards</a:t>
            </a:r>
            <a:r>
              <a:rPr lang="fi-FI" dirty="0"/>
              <a:t>, to </a:t>
            </a:r>
            <a:r>
              <a:rPr lang="fi-FI" dirty="0" err="1"/>
              <a:t>visualise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data, </a:t>
            </a:r>
            <a:r>
              <a:rPr lang="fi-FI" dirty="0" err="1"/>
              <a:t>increase</a:t>
            </a:r>
            <a:r>
              <a:rPr lang="fi-FI" dirty="0"/>
              <a:t> </a:t>
            </a:r>
            <a:r>
              <a:rPr lang="fi-FI" dirty="0" err="1"/>
              <a:t>sales</a:t>
            </a:r>
            <a:r>
              <a:rPr lang="fi-FI" dirty="0"/>
              <a:t>, </a:t>
            </a:r>
            <a:r>
              <a:rPr lang="fi-FI" dirty="0" err="1"/>
              <a:t>retain</a:t>
            </a:r>
            <a:r>
              <a:rPr lang="fi-FI" dirty="0"/>
              <a:t> </a:t>
            </a:r>
            <a:r>
              <a:rPr lang="fi-FI" dirty="0" err="1"/>
              <a:t>customers</a:t>
            </a:r>
            <a:r>
              <a:rPr lang="fi-FI" dirty="0"/>
              <a:t>.</a:t>
            </a:r>
          </a:p>
          <a:p>
            <a:endParaRPr lang="fi-FI" dirty="0"/>
          </a:p>
          <a:p>
            <a:r>
              <a:rPr lang="fi-FI" dirty="0"/>
              <a:t>ML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i-FI" dirty="0" err="1"/>
              <a:t>Ethics</a:t>
            </a:r>
            <a:r>
              <a:rPr lang="fi-FI" dirty="0"/>
              <a:t> of </a:t>
            </a:r>
            <a:r>
              <a:rPr lang="fi-FI" dirty="0" err="1"/>
              <a:t>using</a:t>
            </a:r>
            <a:r>
              <a:rPr lang="fi-FI" dirty="0"/>
              <a:t> AI for </a:t>
            </a:r>
            <a:r>
              <a:rPr lang="fi-FI" dirty="0" err="1"/>
              <a:t>during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process</a:t>
            </a:r>
            <a:r>
              <a:rPr lang="fi-FI" dirty="0"/>
              <a:t>, data </a:t>
            </a:r>
            <a:r>
              <a:rPr lang="fi-FI" dirty="0" err="1"/>
              <a:t>safety</a:t>
            </a:r>
            <a:r>
              <a:rPr lang="fi-FI" dirty="0"/>
              <a:t>/</a:t>
            </a:r>
            <a:r>
              <a:rPr lang="fi-FI" dirty="0" err="1"/>
              <a:t>security</a:t>
            </a:r>
            <a:r>
              <a:rPr lang="fi-FI" dirty="0"/>
              <a:t> and </a:t>
            </a:r>
            <a:r>
              <a:rPr lang="fi-FI" dirty="0" err="1"/>
              <a:t>privacy</a:t>
            </a:r>
            <a:endParaRPr lang="fi-FI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fi-FI" dirty="0"/>
              <a:t>If data is </a:t>
            </a:r>
            <a:r>
              <a:rPr lang="fi-FI" dirty="0" err="1"/>
              <a:t>confidential</a:t>
            </a:r>
            <a:r>
              <a:rPr lang="fi-FI" dirty="0"/>
              <a:t>, </a:t>
            </a:r>
            <a:r>
              <a:rPr lang="fi-FI" dirty="0" err="1"/>
              <a:t>care</a:t>
            </a:r>
            <a:r>
              <a:rPr lang="fi-FI" dirty="0"/>
              <a:t> </a:t>
            </a:r>
            <a:r>
              <a:rPr lang="fi-FI" dirty="0" err="1"/>
              <a:t>should</a:t>
            </a:r>
            <a:r>
              <a:rPr lang="fi-FI" dirty="0"/>
              <a:t> </a:t>
            </a:r>
            <a:r>
              <a:rPr lang="fi-FI" dirty="0" err="1"/>
              <a:t>be</a:t>
            </a:r>
            <a:r>
              <a:rPr lang="fi-FI" dirty="0"/>
              <a:t> </a:t>
            </a:r>
            <a:r>
              <a:rPr lang="fi-FI" dirty="0" err="1"/>
              <a:t>taken</a:t>
            </a:r>
            <a:r>
              <a:rPr lang="fi-FI" dirty="0"/>
              <a:t> </a:t>
            </a:r>
            <a:r>
              <a:rPr lang="fi-FI" dirty="0" err="1"/>
              <a:t>while</a:t>
            </a:r>
            <a:r>
              <a:rPr lang="fi-FI" dirty="0"/>
              <a:t> </a:t>
            </a:r>
            <a:r>
              <a:rPr lang="fi-FI" dirty="0" err="1"/>
              <a:t>taking</a:t>
            </a:r>
            <a:r>
              <a:rPr lang="fi-FI" dirty="0"/>
              <a:t> </a:t>
            </a:r>
            <a:r>
              <a:rPr lang="fi-FI" dirty="0" err="1"/>
              <a:t>assistance</a:t>
            </a:r>
            <a:r>
              <a:rPr lang="fi-FI" dirty="0"/>
              <a:t> </a:t>
            </a:r>
            <a:r>
              <a:rPr lang="fi-FI" dirty="0" err="1"/>
              <a:t>from</a:t>
            </a:r>
            <a:r>
              <a:rPr lang="fi-FI" dirty="0"/>
              <a:t> AI </a:t>
            </a:r>
            <a:r>
              <a:rPr lang="fi-FI" dirty="0" err="1"/>
              <a:t>chatbots</a:t>
            </a:r>
            <a:r>
              <a:rPr lang="fi-FI" dirty="0"/>
              <a:t> (Claude, </a:t>
            </a:r>
            <a:r>
              <a:rPr lang="fi-FI" dirty="0" err="1"/>
              <a:t>ChatGPT</a:t>
            </a:r>
            <a:r>
              <a:rPr lang="fi-FI" dirty="0"/>
              <a:t>)</a:t>
            </a:r>
          </a:p>
          <a:p>
            <a:r>
              <a:rPr lang="fi-FI" dirty="0"/>
              <a:t>ML </a:t>
            </a:r>
            <a:r>
              <a:rPr lang="fi-FI" dirty="0" err="1"/>
              <a:t>Models</a:t>
            </a:r>
            <a:endParaRPr lang="fi-FI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fi-FI" dirty="0" err="1"/>
              <a:t>Logistic</a:t>
            </a:r>
            <a:r>
              <a:rPr lang="fi-FI" dirty="0"/>
              <a:t> Regression, </a:t>
            </a:r>
            <a:r>
              <a:rPr lang="fi-FI" dirty="0" err="1"/>
              <a:t>Decision</a:t>
            </a:r>
            <a:r>
              <a:rPr lang="fi-FI" dirty="0"/>
              <a:t> </a:t>
            </a:r>
            <a:r>
              <a:rPr lang="fi-FI" dirty="0" err="1"/>
              <a:t>Trees</a:t>
            </a:r>
            <a:r>
              <a:rPr lang="fi-FI" dirty="0"/>
              <a:t>, Random </a:t>
            </a:r>
            <a:r>
              <a:rPr lang="fi-FI" dirty="0" err="1"/>
              <a:t>Forest</a:t>
            </a:r>
            <a:r>
              <a:rPr lang="fi-FI" dirty="0"/>
              <a:t>, K-</a:t>
            </a:r>
            <a:r>
              <a:rPr lang="fi-FI" dirty="0" err="1"/>
              <a:t>Means</a:t>
            </a:r>
            <a:r>
              <a:rPr lang="fi-FI" dirty="0"/>
              <a:t> Clustering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B64A5-E4A6-2BFF-CE06-B05D2956E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125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DA551-138B-F1B5-4EE2-58F36E43B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48640"/>
            <a:ext cx="3831015" cy="1132258"/>
          </a:xfrm>
        </p:spPr>
        <p:txBody>
          <a:bodyPr/>
          <a:lstStyle/>
          <a:p>
            <a:r>
              <a:rPr lang="fi-FI" dirty="0" err="1"/>
              <a:t>Database</a:t>
            </a:r>
            <a:r>
              <a:rPr lang="fi-FI" dirty="0"/>
              <a:t> </a:t>
            </a:r>
            <a:r>
              <a:rPr lang="fi-FI" dirty="0" err="1"/>
              <a:t>setup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7919B-5BC6-7CCB-622A-7A80BC977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114769"/>
            <a:ext cx="5740027" cy="5194591"/>
          </a:xfrm>
        </p:spPr>
        <p:txBody>
          <a:bodyPr/>
          <a:lstStyle/>
          <a:p>
            <a:endParaRPr lang="fi-FI" dirty="0"/>
          </a:p>
          <a:p>
            <a:r>
              <a:rPr lang="fi-FI" dirty="0" err="1"/>
              <a:t>Database</a:t>
            </a:r>
            <a:r>
              <a:rPr lang="fi-FI" dirty="0"/>
              <a:t> </a:t>
            </a:r>
            <a:r>
              <a:rPr lang="fi-FI" dirty="0" err="1"/>
              <a:t>name</a:t>
            </a:r>
            <a:r>
              <a:rPr lang="fi-FI" dirty="0"/>
              <a:t> </a:t>
            </a:r>
            <a:r>
              <a:rPr lang="fi-FI" b="1" u="sng" dirty="0" err="1"/>
              <a:t>ecommerce.db</a:t>
            </a:r>
            <a:endParaRPr lang="fi-FI" b="1" u="sng" dirty="0"/>
          </a:p>
          <a:p>
            <a:r>
              <a:rPr lang="fi-FI" dirty="0"/>
              <a:t>Sqlite3 </a:t>
            </a:r>
            <a:r>
              <a:rPr lang="fi-FI" dirty="0" err="1"/>
              <a:t>module</a:t>
            </a:r>
            <a:r>
              <a:rPr lang="fi-FI" dirty="0"/>
              <a:t> </a:t>
            </a:r>
            <a:r>
              <a:rPr lang="fi-FI" dirty="0" err="1"/>
              <a:t>used</a:t>
            </a:r>
            <a:r>
              <a:rPr lang="fi-FI" dirty="0"/>
              <a:t> for </a:t>
            </a:r>
            <a:r>
              <a:rPr lang="fi-FI" dirty="0" err="1"/>
              <a:t>creating</a:t>
            </a:r>
            <a:r>
              <a:rPr lang="fi-FI" dirty="0"/>
              <a:t> </a:t>
            </a:r>
            <a:r>
              <a:rPr lang="fi-FI" dirty="0" err="1"/>
              <a:t>database</a:t>
            </a:r>
            <a:endParaRPr lang="fi-FI" dirty="0"/>
          </a:p>
          <a:p>
            <a:endParaRPr lang="fi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09AAF-39C9-57A2-4FEA-1CFBC97D2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3C3ACD-EBE4-73A5-5987-FCEBF9656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548641"/>
            <a:ext cx="5750765" cy="5808498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71646B1-9901-B9C7-C948-9EB3FC0BCD82}"/>
              </a:ext>
            </a:extLst>
          </p:cNvPr>
          <p:cNvSpPr txBox="1">
            <a:spLocks/>
          </p:cNvSpPr>
          <p:nvPr/>
        </p:nvSpPr>
        <p:spPr>
          <a:xfrm>
            <a:off x="612648" y="2546683"/>
            <a:ext cx="6660782" cy="2880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i-FI" dirty="0" err="1"/>
              <a:t>Schema</a:t>
            </a:r>
            <a:endParaRPr lang="fi-FI" dirty="0"/>
          </a:p>
          <a:p>
            <a:r>
              <a:rPr lang="fi-FI" dirty="0" err="1"/>
              <a:t>Four</a:t>
            </a:r>
            <a:r>
              <a:rPr lang="fi-FI" dirty="0"/>
              <a:t> </a:t>
            </a:r>
            <a:r>
              <a:rPr lang="fi-FI" dirty="0" err="1"/>
              <a:t>Tables</a:t>
            </a:r>
            <a:r>
              <a:rPr lang="fi-FI" dirty="0"/>
              <a:t> </a:t>
            </a:r>
            <a:r>
              <a:rPr lang="fi-FI" dirty="0" err="1"/>
              <a:t>added</a:t>
            </a:r>
            <a:r>
              <a:rPr lang="fi-FI" dirty="0"/>
              <a:t> to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empty</a:t>
            </a:r>
            <a:r>
              <a:rPr lang="fi-FI" dirty="0"/>
              <a:t> </a:t>
            </a:r>
            <a:r>
              <a:rPr lang="fi-FI" dirty="0" err="1"/>
              <a:t>database</a:t>
            </a:r>
            <a:r>
              <a:rPr lang="fi-FI" dirty="0"/>
              <a:t> </a:t>
            </a:r>
            <a:r>
              <a:rPr lang="fi-FI" dirty="0" err="1"/>
              <a:t>ecommerce.db</a:t>
            </a:r>
            <a:endParaRPr lang="fi-FI" dirty="0"/>
          </a:p>
          <a:p>
            <a:pPr marL="571500" lvl="1" indent="-342900">
              <a:buFont typeface="+mj-lt"/>
              <a:buAutoNum type="arabicPeriod"/>
            </a:pPr>
            <a:r>
              <a:rPr lang="fi-FI" dirty="0" err="1"/>
              <a:t>Customers</a:t>
            </a:r>
            <a:endParaRPr lang="fi-FI" dirty="0"/>
          </a:p>
          <a:p>
            <a:pPr marL="571500" lvl="1" indent="-342900">
              <a:buFont typeface="+mj-lt"/>
              <a:buAutoNum type="arabicPeriod"/>
            </a:pPr>
            <a:r>
              <a:rPr lang="fi-FI" dirty="0"/>
              <a:t>Products</a:t>
            </a:r>
          </a:p>
          <a:p>
            <a:pPr marL="571500" lvl="1" indent="-342900">
              <a:buFont typeface="+mj-lt"/>
              <a:buAutoNum type="arabicPeriod"/>
            </a:pPr>
            <a:r>
              <a:rPr lang="fi-FI" dirty="0" err="1"/>
              <a:t>Invoices</a:t>
            </a:r>
            <a:endParaRPr lang="fi-FI" dirty="0"/>
          </a:p>
          <a:p>
            <a:pPr marL="571500" lvl="1" indent="-342900">
              <a:buFont typeface="+mj-lt"/>
              <a:buAutoNum type="arabicPeriod"/>
            </a:pPr>
            <a:r>
              <a:rPr lang="fi-FI" dirty="0" err="1"/>
              <a:t>Invoice_items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913431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DFC18-766E-498A-067A-308D8A7DB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623" y="561594"/>
            <a:ext cx="3111627" cy="1565910"/>
          </a:xfrm>
        </p:spPr>
        <p:txBody>
          <a:bodyPr>
            <a:normAutofit fontScale="90000"/>
          </a:bodyPr>
          <a:lstStyle/>
          <a:p>
            <a:r>
              <a:rPr lang="fi-FI" dirty="0"/>
              <a:t>Data</a:t>
            </a:r>
            <a:br>
              <a:rPr lang="fi-FI" dirty="0"/>
            </a:br>
            <a:r>
              <a:rPr lang="fi-FI" dirty="0" err="1"/>
              <a:t>cleaning</a:t>
            </a:r>
            <a:br>
              <a:rPr lang="fi-FI" dirty="0"/>
            </a:br>
            <a:r>
              <a:rPr lang="fi-FI" dirty="0"/>
              <a:t>and </a:t>
            </a:r>
            <a:r>
              <a:rPr lang="fi-FI" dirty="0" err="1"/>
              <a:t>basic</a:t>
            </a:r>
            <a:br>
              <a:rPr lang="fi-FI" dirty="0"/>
            </a:br>
            <a:r>
              <a:rPr lang="fi-FI" dirty="0" err="1"/>
              <a:t>insights</a:t>
            </a:r>
            <a:endParaRPr lang="fi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502E6-6BEC-E0D9-EDC3-C1B581AB6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27EE54-5C0C-FE9C-867A-96892225B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5"/>
          <a:stretch>
            <a:fillRect/>
          </a:stretch>
        </p:blipFill>
        <p:spPr>
          <a:xfrm>
            <a:off x="2390274" y="0"/>
            <a:ext cx="9801726" cy="5232115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D9121AF-30D6-566D-CE2A-6ABF20966F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53" y="2761977"/>
            <a:ext cx="4382428" cy="36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070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3A408-97C6-2D16-16FC-7CFC402B1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3C02AC-BDBA-997A-67D0-2CAAB7CC88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596"/>
            <a:ext cx="10869152" cy="62494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484357-4663-B67F-3F97-B28CB00D0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7423" y="5016645"/>
            <a:ext cx="6181426" cy="1132258"/>
          </a:xfrm>
        </p:spPr>
        <p:txBody>
          <a:bodyPr/>
          <a:lstStyle/>
          <a:p>
            <a:r>
              <a:rPr lang="fi-FI" dirty="0" err="1"/>
              <a:t>Database</a:t>
            </a:r>
            <a:r>
              <a:rPr lang="fi-FI" dirty="0"/>
              <a:t> and </a:t>
            </a:r>
            <a:r>
              <a:rPr lang="fi-FI" dirty="0" err="1"/>
              <a:t>querying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A22C4-29DB-7AA1-0DFD-60307851C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423" y="5590626"/>
            <a:ext cx="2873503" cy="1418193"/>
          </a:xfrm>
        </p:spPr>
        <p:txBody>
          <a:bodyPr/>
          <a:lstStyle/>
          <a:p>
            <a:r>
              <a:rPr lang="fi-FI" dirty="0"/>
              <a:t>DB </a:t>
            </a:r>
            <a:r>
              <a:rPr lang="fi-FI" dirty="0" err="1"/>
              <a:t>Browser</a:t>
            </a:r>
            <a:r>
              <a:rPr lang="fi-FI" dirty="0"/>
              <a:t> for </a:t>
            </a:r>
            <a:r>
              <a:rPr lang="fi-FI" dirty="0" err="1"/>
              <a:t>SQLIte</a:t>
            </a:r>
            <a:endParaRPr lang="fi-FI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04D56F-B169-0728-6FC0-EA680EB0F3E6}"/>
              </a:ext>
            </a:extLst>
          </p:cNvPr>
          <p:cNvSpPr txBox="1">
            <a:spLocks/>
          </p:cNvSpPr>
          <p:nvPr/>
        </p:nvSpPr>
        <p:spPr>
          <a:xfrm>
            <a:off x="7160053" y="5582774"/>
            <a:ext cx="3350879" cy="1418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i-FI" dirty="0" err="1"/>
              <a:t>Executed</a:t>
            </a:r>
            <a:r>
              <a:rPr lang="fi-FI" dirty="0"/>
              <a:t> 9 </a:t>
            </a:r>
            <a:r>
              <a:rPr lang="fi-FI" dirty="0" err="1"/>
              <a:t>different</a:t>
            </a:r>
            <a:r>
              <a:rPr lang="fi-FI" dirty="0"/>
              <a:t> SQL </a:t>
            </a:r>
            <a:r>
              <a:rPr lang="fi-FI" dirty="0" err="1"/>
              <a:t>queries</a:t>
            </a:r>
            <a:r>
              <a:rPr lang="fi-FI" dirty="0"/>
              <a:t> to </a:t>
            </a:r>
            <a:r>
              <a:rPr lang="fi-FI" dirty="0" err="1"/>
              <a:t>extract</a:t>
            </a:r>
            <a:r>
              <a:rPr lang="fi-FI" dirty="0"/>
              <a:t> </a:t>
            </a:r>
            <a:r>
              <a:rPr lang="fi-FI" dirty="0" err="1"/>
              <a:t>deep</a:t>
            </a:r>
            <a:r>
              <a:rPr lang="fi-FI" dirty="0"/>
              <a:t> </a:t>
            </a:r>
            <a:r>
              <a:rPr lang="fi-FI" dirty="0" err="1"/>
              <a:t>insights</a:t>
            </a:r>
            <a:endParaRPr lang="fi-FI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56DF33-21E0-5382-419D-E6240C828445}"/>
              </a:ext>
            </a:extLst>
          </p:cNvPr>
          <p:cNvGrpSpPr/>
          <p:nvPr/>
        </p:nvGrpSpPr>
        <p:grpSpPr>
          <a:xfrm>
            <a:off x="2345220" y="542955"/>
            <a:ext cx="808200" cy="163800"/>
            <a:chOff x="2345220" y="542955"/>
            <a:chExt cx="808200" cy="16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8A6B857-4474-7070-0A2F-7FEC39F6EF2C}"/>
                    </a:ext>
                  </a:extLst>
                </p14:cNvPr>
                <p14:cNvContentPartPr/>
                <p14:nvPr/>
              </p14:nvContentPartPr>
              <p14:xfrm>
                <a:off x="2345220" y="542955"/>
                <a:ext cx="169560" cy="163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8A6B857-4474-7070-0A2F-7FEC39F6EF2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327580" y="524955"/>
                  <a:ext cx="2052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CBFEC1E-2BA0-0A8E-5E2F-67683E051898}"/>
                    </a:ext>
                  </a:extLst>
                </p14:cNvPr>
                <p14:cNvContentPartPr/>
                <p14:nvPr/>
              </p14:nvContentPartPr>
              <p14:xfrm>
                <a:off x="2362140" y="599475"/>
                <a:ext cx="791280" cy="19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CBFEC1E-2BA0-0A8E-5E2F-67683E05189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344500" y="581475"/>
                  <a:ext cx="826920" cy="55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16401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D8BBA96-4F45-67BF-7DFD-1D0D942A61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065" y="22153"/>
            <a:ext cx="4767924" cy="683584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D20E-771F-8519-27FF-67E828CCA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7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4D1AF9-3B79-59A6-2D17-D858BA589E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513" y="-11078"/>
            <a:ext cx="5225906" cy="6858000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6BD8647A-25A4-EDBB-BD99-7E7B67566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8872"/>
            <a:ext cx="1848283" cy="1342570"/>
          </a:xfrm>
        </p:spPr>
        <p:txBody>
          <a:bodyPr>
            <a:normAutofit/>
          </a:bodyPr>
          <a:lstStyle/>
          <a:p>
            <a:r>
              <a:rPr lang="fi-FI" sz="2800" dirty="0" err="1"/>
              <a:t>Query</a:t>
            </a:r>
            <a:r>
              <a:rPr lang="fi-FI" sz="2800" dirty="0"/>
              <a:t> </a:t>
            </a:r>
            <a:r>
              <a:rPr lang="fi-FI" sz="2800" dirty="0" err="1"/>
              <a:t>Example</a:t>
            </a:r>
            <a:endParaRPr lang="fi-FI" sz="2800" dirty="0"/>
          </a:p>
        </p:txBody>
      </p:sp>
    </p:spTree>
    <p:extLst>
      <p:ext uri="{BB962C8B-B14F-4D97-AF65-F5344CB8AC3E}">
        <p14:creationId xmlns:p14="http://schemas.microsoft.com/office/powerpoint/2010/main" val="1079613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E8CF0-516E-97A2-51F1-74C310946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Further</a:t>
            </a:r>
            <a:r>
              <a:rPr lang="fi-FI" dirty="0"/>
              <a:t> </a:t>
            </a:r>
            <a:r>
              <a:rPr lang="fi-FI" dirty="0" err="1"/>
              <a:t>queries</a:t>
            </a:r>
            <a:r>
              <a:rPr lang="fi-FI" dirty="0"/>
              <a:t> </a:t>
            </a:r>
            <a:r>
              <a:rPr lang="fi-FI" dirty="0" err="1"/>
              <a:t>using</a:t>
            </a:r>
            <a:r>
              <a:rPr lang="fi-FI" dirty="0"/>
              <a:t>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54960-1625-037D-879A-34F5E0AA3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Top 10 </a:t>
            </a:r>
            <a:r>
              <a:rPr lang="fi-FI" dirty="0" err="1"/>
              <a:t>performing</a:t>
            </a:r>
            <a:r>
              <a:rPr lang="fi-FI" dirty="0"/>
              <a:t> </a:t>
            </a:r>
            <a:r>
              <a:rPr lang="fi-FI" dirty="0" err="1"/>
              <a:t>customers</a:t>
            </a:r>
            <a:endParaRPr lang="fi-FI" dirty="0"/>
          </a:p>
          <a:p>
            <a:r>
              <a:rPr lang="fi-FI" dirty="0"/>
              <a:t>Top 10 </a:t>
            </a:r>
            <a:r>
              <a:rPr lang="fi-FI" dirty="0" err="1"/>
              <a:t>countries</a:t>
            </a:r>
            <a:r>
              <a:rPr lang="fi-FI" dirty="0"/>
              <a:t> </a:t>
            </a:r>
            <a:r>
              <a:rPr lang="fi-FI" dirty="0" err="1"/>
              <a:t>by</a:t>
            </a:r>
            <a:r>
              <a:rPr lang="fi-FI" dirty="0"/>
              <a:t> </a:t>
            </a:r>
            <a:r>
              <a:rPr lang="fi-FI" dirty="0" err="1"/>
              <a:t>revenue</a:t>
            </a:r>
            <a:endParaRPr lang="fi-FI" dirty="0"/>
          </a:p>
          <a:p>
            <a:r>
              <a:rPr lang="fi-FI" dirty="0"/>
              <a:t>Top  10 </a:t>
            </a:r>
            <a:r>
              <a:rPr lang="fi-FI" dirty="0" err="1"/>
              <a:t>best</a:t>
            </a:r>
            <a:r>
              <a:rPr lang="fi-FI" dirty="0"/>
              <a:t> </a:t>
            </a:r>
            <a:r>
              <a:rPr lang="fi-FI" dirty="0" err="1"/>
              <a:t>selling</a:t>
            </a:r>
            <a:r>
              <a:rPr lang="fi-FI" dirty="0"/>
              <a:t> products</a:t>
            </a:r>
          </a:p>
          <a:p>
            <a:r>
              <a:rPr lang="fi-FI" dirty="0"/>
              <a:t>Top 10 products </a:t>
            </a:r>
            <a:r>
              <a:rPr lang="fi-FI" dirty="0" err="1"/>
              <a:t>by</a:t>
            </a:r>
            <a:r>
              <a:rPr lang="fi-FI" dirty="0"/>
              <a:t> </a:t>
            </a:r>
            <a:r>
              <a:rPr lang="fi-FI" dirty="0" err="1"/>
              <a:t>revenue</a:t>
            </a:r>
            <a:r>
              <a:rPr lang="fi-FI" dirty="0"/>
              <a:t> </a:t>
            </a:r>
            <a:r>
              <a:rPr lang="fi-FI" dirty="0" err="1"/>
              <a:t>generated</a:t>
            </a:r>
            <a:endParaRPr lang="fi-FI" dirty="0"/>
          </a:p>
          <a:p>
            <a:r>
              <a:rPr lang="fi-FI" dirty="0" err="1"/>
              <a:t>Monthly</a:t>
            </a:r>
            <a:r>
              <a:rPr lang="fi-FI" dirty="0"/>
              <a:t> </a:t>
            </a:r>
            <a:r>
              <a:rPr lang="fi-FI" dirty="0" err="1"/>
              <a:t>revenue</a:t>
            </a:r>
            <a:r>
              <a:rPr lang="fi-FI" dirty="0"/>
              <a:t> </a:t>
            </a:r>
            <a:r>
              <a:rPr lang="fi-FI" dirty="0" err="1"/>
              <a:t>trend</a:t>
            </a:r>
            <a:r>
              <a:rPr lang="fi-FI" dirty="0"/>
              <a:t> and </a:t>
            </a:r>
            <a:r>
              <a:rPr lang="fi-FI" dirty="0" err="1"/>
              <a:t>monthly</a:t>
            </a:r>
            <a:r>
              <a:rPr lang="fi-FI" dirty="0"/>
              <a:t> </a:t>
            </a:r>
            <a:r>
              <a:rPr lang="fi-FI" dirty="0" err="1"/>
              <a:t>order</a:t>
            </a:r>
            <a:r>
              <a:rPr lang="fi-FI" dirty="0"/>
              <a:t> </a:t>
            </a:r>
            <a:r>
              <a:rPr lang="fi-FI" dirty="0" err="1"/>
              <a:t>volume</a:t>
            </a:r>
            <a:endParaRPr lang="fi-FI" dirty="0"/>
          </a:p>
          <a:p>
            <a:r>
              <a:rPr lang="fi-FI" dirty="0" err="1"/>
              <a:t>Busiest</a:t>
            </a:r>
            <a:r>
              <a:rPr lang="fi-FI" dirty="0"/>
              <a:t> </a:t>
            </a:r>
            <a:r>
              <a:rPr lang="fi-FI" dirty="0" err="1"/>
              <a:t>days</a:t>
            </a:r>
            <a:r>
              <a:rPr lang="fi-FI" dirty="0"/>
              <a:t> of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week</a:t>
            </a:r>
            <a:endParaRPr lang="fi-FI" dirty="0"/>
          </a:p>
          <a:p>
            <a:r>
              <a:rPr lang="fi-FI" dirty="0" err="1"/>
              <a:t>Customer</a:t>
            </a:r>
            <a:r>
              <a:rPr lang="fi-FI" dirty="0"/>
              <a:t> </a:t>
            </a:r>
            <a:r>
              <a:rPr lang="fi-FI" dirty="0" err="1"/>
              <a:t>value</a:t>
            </a:r>
            <a:r>
              <a:rPr lang="fi-FI" dirty="0"/>
              <a:t> </a:t>
            </a:r>
            <a:r>
              <a:rPr lang="fi-FI" dirty="0" err="1"/>
              <a:t>by</a:t>
            </a:r>
            <a:r>
              <a:rPr lang="fi-FI" dirty="0"/>
              <a:t> </a:t>
            </a:r>
            <a:r>
              <a:rPr lang="fi-FI" dirty="0" err="1"/>
              <a:t>revenue</a:t>
            </a:r>
            <a:r>
              <a:rPr lang="fi-FI" dirty="0"/>
              <a:t> (VIP, Medium, </a:t>
            </a:r>
            <a:r>
              <a:rPr lang="fi-FI" dirty="0" err="1"/>
              <a:t>Low</a:t>
            </a:r>
            <a:r>
              <a:rPr lang="fi-FI" dirty="0"/>
              <a:t>)</a:t>
            </a:r>
          </a:p>
          <a:p>
            <a:r>
              <a:rPr lang="fi-FI" dirty="0"/>
              <a:t>Top 10 </a:t>
            </a:r>
            <a:r>
              <a:rPr lang="fi-FI" dirty="0" err="1"/>
              <a:t>product</a:t>
            </a:r>
            <a:r>
              <a:rPr lang="fi-FI" dirty="0"/>
              <a:t> </a:t>
            </a:r>
            <a:r>
              <a:rPr lang="fi-FI" dirty="0" err="1"/>
              <a:t>combinations</a:t>
            </a:r>
            <a:r>
              <a:rPr lang="fi-FI" dirty="0"/>
              <a:t> </a:t>
            </a:r>
            <a:r>
              <a:rPr lang="fi-FI" dirty="0" err="1"/>
              <a:t>by</a:t>
            </a:r>
            <a:r>
              <a:rPr lang="fi-FI" dirty="0"/>
              <a:t> </a:t>
            </a:r>
            <a:r>
              <a:rPr lang="fi-FI" dirty="0" err="1"/>
              <a:t>revenue</a:t>
            </a:r>
            <a:endParaRPr lang="fi-FI" dirty="0"/>
          </a:p>
          <a:p>
            <a:endParaRPr lang="fi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90E59-5EB8-2BA3-0019-1F40D9099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84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76E3C-D430-5B13-B197-74E630643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2721102" cy="1132258"/>
          </a:xfrm>
        </p:spPr>
        <p:txBody>
          <a:bodyPr/>
          <a:lstStyle/>
          <a:p>
            <a:r>
              <a:rPr lang="fi-FI" dirty="0" err="1"/>
              <a:t>Extracted</a:t>
            </a:r>
            <a:br>
              <a:rPr lang="fi-FI" dirty="0"/>
            </a:br>
            <a:r>
              <a:rPr lang="fi-FI" dirty="0" err="1"/>
              <a:t>Insights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0DF9F-B63C-69BE-C6AF-191A549C5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RFM Analysis</a:t>
            </a:r>
          </a:p>
          <a:p>
            <a:r>
              <a:rPr lang="fi-FI" dirty="0" err="1"/>
              <a:t>Recency</a:t>
            </a:r>
            <a:r>
              <a:rPr lang="fi-FI" dirty="0"/>
              <a:t>, </a:t>
            </a:r>
            <a:r>
              <a:rPr lang="fi-FI" dirty="0" err="1"/>
              <a:t>Frequency</a:t>
            </a:r>
            <a:r>
              <a:rPr lang="fi-FI" dirty="0"/>
              <a:t>,</a:t>
            </a:r>
            <a:br>
              <a:rPr lang="fi-FI" dirty="0"/>
            </a:br>
            <a:r>
              <a:rPr lang="fi-FI" dirty="0" err="1"/>
              <a:t>Monetary</a:t>
            </a:r>
            <a:endParaRPr lang="fi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DAC22-F83D-19F7-38F8-9243F04B5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F9C5CE-EB87-6F95-982C-7A45D9369B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" t="947"/>
          <a:stretch>
            <a:fillRect/>
          </a:stretch>
        </p:blipFill>
        <p:spPr>
          <a:xfrm>
            <a:off x="3548048" y="548640"/>
            <a:ext cx="7718178" cy="5139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404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0C949-9FAA-DD86-406C-A897C13D9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718686"/>
          </a:xfrm>
        </p:spPr>
        <p:txBody>
          <a:bodyPr/>
          <a:lstStyle/>
          <a:p>
            <a:r>
              <a:rPr lang="fi-FI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76C98-F5DB-CD57-B693-AB48F7F64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267326"/>
            <a:ext cx="4857711" cy="5042034"/>
          </a:xfrm>
        </p:spPr>
        <p:txBody>
          <a:bodyPr>
            <a:normAutofit/>
          </a:bodyPr>
          <a:lstStyle/>
          <a:p>
            <a:r>
              <a:rPr lang="fi-FI" dirty="0" err="1"/>
              <a:t>Multiple</a:t>
            </a:r>
            <a:r>
              <a:rPr lang="fi-FI" dirty="0"/>
              <a:t> </a:t>
            </a:r>
            <a:r>
              <a:rPr lang="fi-FI" dirty="0" err="1"/>
              <a:t>new</a:t>
            </a:r>
            <a:r>
              <a:rPr lang="fi-FI" dirty="0"/>
              <a:t> </a:t>
            </a:r>
            <a:r>
              <a:rPr lang="fi-FI" dirty="0" err="1"/>
              <a:t>features</a:t>
            </a:r>
            <a:r>
              <a:rPr lang="fi-FI" dirty="0"/>
              <a:t> </a:t>
            </a:r>
            <a:r>
              <a:rPr lang="fi-FI" dirty="0" err="1"/>
              <a:t>extracted</a:t>
            </a:r>
            <a:r>
              <a:rPr lang="fi-FI" dirty="0"/>
              <a:t> </a:t>
            </a:r>
            <a:r>
              <a:rPr lang="fi-FI" dirty="0" err="1"/>
              <a:t>from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insights</a:t>
            </a:r>
            <a:r>
              <a:rPr lang="fi-FI" dirty="0"/>
              <a:t>, e.g.</a:t>
            </a:r>
          </a:p>
          <a:p>
            <a:pPr lvl="1"/>
            <a:r>
              <a:rPr lang="fi-FI" dirty="0" err="1"/>
              <a:t>days_since_last_purchase</a:t>
            </a:r>
            <a:r>
              <a:rPr lang="fi-FI" dirty="0"/>
              <a:t> </a:t>
            </a:r>
          </a:p>
          <a:p>
            <a:pPr lvl="1"/>
            <a:r>
              <a:rPr lang="fi-FI" dirty="0" err="1"/>
              <a:t>purchase_trend</a:t>
            </a:r>
            <a:r>
              <a:rPr lang="fi-FI" dirty="0"/>
              <a:t> </a:t>
            </a:r>
          </a:p>
          <a:p>
            <a:pPr lvl="1"/>
            <a:r>
              <a:rPr lang="fi-FI" dirty="0" err="1"/>
              <a:t>trend_magnitude</a:t>
            </a:r>
            <a:r>
              <a:rPr lang="fi-FI" dirty="0"/>
              <a:t> </a:t>
            </a:r>
          </a:p>
          <a:p>
            <a:pPr lvl="1"/>
            <a:r>
              <a:rPr lang="fi-FI" dirty="0" err="1"/>
              <a:t>preferred_category</a:t>
            </a:r>
            <a:endParaRPr lang="fi-FI" dirty="0"/>
          </a:p>
          <a:p>
            <a:pPr lvl="1"/>
            <a:r>
              <a:rPr lang="fi-FI" dirty="0" err="1"/>
              <a:t>preferred_category_spend</a:t>
            </a:r>
            <a:endParaRPr lang="fi-FI" dirty="0"/>
          </a:p>
          <a:p>
            <a:pPr lvl="1"/>
            <a:r>
              <a:rPr lang="fi-FI" dirty="0" err="1"/>
              <a:t>category_diversity</a:t>
            </a:r>
            <a:endParaRPr lang="fi-FI" dirty="0"/>
          </a:p>
          <a:p>
            <a:pPr lvl="1"/>
            <a:r>
              <a:rPr lang="fi-FI" dirty="0" err="1"/>
              <a:t>avg_basket_size</a:t>
            </a:r>
            <a:r>
              <a:rPr lang="fi-FI" dirty="0"/>
              <a:t> </a:t>
            </a:r>
          </a:p>
          <a:p>
            <a:pPr lvl="1"/>
            <a:r>
              <a:rPr lang="fi-FI" dirty="0" err="1"/>
              <a:t>std_basket_size</a:t>
            </a:r>
            <a:r>
              <a:rPr lang="fi-FI" dirty="0"/>
              <a:t> </a:t>
            </a:r>
          </a:p>
          <a:p>
            <a:pPr lvl="1"/>
            <a:r>
              <a:rPr lang="fi-FI" dirty="0" err="1"/>
              <a:t>min_basket_size</a:t>
            </a:r>
            <a:endParaRPr lang="fi-FI" dirty="0"/>
          </a:p>
          <a:p>
            <a:pPr lvl="1"/>
            <a:r>
              <a:rPr lang="fi-FI" dirty="0" err="1"/>
              <a:t>max_basket_size</a:t>
            </a:r>
            <a:endParaRPr lang="fi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8894B-A80C-81E3-C463-94C456A17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10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8254C1A-8C7D-E2FD-801A-7BC4C52AA245}"/>
              </a:ext>
            </a:extLst>
          </p:cNvPr>
          <p:cNvSpPr txBox="1">
            <a:spLocks/>
          </p:cNvSpPr>
          <p:nvPr/>
        </p:nvSpPr>
        <p:spPr>
          <a:xfrm>
            <a:off x="5641850" y="2277976"/>
            <a:ext cx="3718721" cy="3994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/>
            <a:r>
              <a:rPr lang="fi-FI" dirty="0" err="1"/>
              <a:t>avg_unique_products</a:t>
            </a:r>
            <a:endParaRPr lang="fi-FI" dirty="0"/>
          </a:p>
          <a:p>
            <a:pPr marL="742950" lvl="1" indent="-285750"/>
            <a:r>
              <a:rPr lang="fi-FI" dirty="0" err="1"/>
              <a:t>std_unique_products</a:t>
            </a:r>
            <a:endParaRPr lang="fi-FI" dirty="0"/>
          </a:p>
          <a:p>
            <a:pPr marL="742950" lvl="1" indent="-285750"/>
            <a:r>
              <a:rPr lang="fi-FI" dirty="0" err="1"/>
              <a:t>avg_basket_value</a:t>
            </a:r>
            <a:endParaRPr lang="fi-FI" dirty="0"/>
          </a:p>
          <a:p>
            <a:pPr marL="742950" lvl="1" indent="-285750"/>
            <a:r>
              <a:rPr lang="fi-FI" dirty="0" err="1"/>
              <a:t>std_basket_value</a:t>
            </a:r>
            <a:r>
              <a:rPr lang="fi-FI" dirty="0"/>
              <a:t> </a:t>
            </a:r>
          </a:p>
          <a:p>
            <a:pPr marL="742950" lvl="1" indent="-285750"/>
            <a:r>
              <a:rPr lang="fi-FI" dirty="0" err="1"/>
              <a:t>min_basket_value</a:t>
            </a:r>
            <a:r>
              <a:rPr lang="fi-FI" dirty="0"/>
              <a:t> </a:t>
            </a:r>
          </a:p>
          <a:p>
            <a:pPr marL="742950" lvl="1" indent="-285750"/>
            <a:r>
              <a:rPr lang="fi-FI" dirty="0" err="1"/>
              <a:t>max_basket_value</a:t>
            </a:r>
            <a:r>
              <a:rPr lang="fi-FI" dirty="0"/>
              <a:t> </a:t>
            </a:r>
          </a:p>
          <a:p>
            <a:pPr marL="742950" lvl="1" indent="-285750"/>
            <a:r>
              <a:rPr lang="fi-FI" dirty="0" err="1"/>
              <a:t>preferred_day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524957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AF455-99D7-4A8F-30BE-9A726B10E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590FA-EB84-02F2-1DEB-AF76816E9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718686"/>
          </a:xfrm>
        </p:spPr>
        <p:txBody>
          <a:bodyPr/>
          <a:lstStyle/>
          <a:p>
            <a:r>
              <a:rPr lang="fi-FI" dirty="0"/>
              <a:t>Feature engineering (</a:t>
            </a:r>
            <a:r>
              <a:rPr lang="fi-FI" dirty="0" err="1"/>
              <a:t>reduction</a:t>
            </a:r>
            <a:r>
              <a:rPr lang="fi-FI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561B8-235B-7818-07C5-768F4DC39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267326"/>
            <a:ext cx="4857711" cy="5042034"/>
          </a:xfrm>
        </p:spPr>
        <p:txBody>
          <a:bodyPr>
            <a:normAutofit lnSpcReduction="10000"/>
          </a:bodyPr>
          <a:lstStyle/>
          <a:p>
            <a:r>
              <a:rPr lang="fi-FI" dirty="0" err="1"/>
              <a:t>Most</a:t>
            </a:r>
            <a:r>
              <a:rPr lang="fi-FI" dirty="0"/>
              <a:t> of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features</a:t>
            </a:r>
            <a:r>
              <a:rPr lang="fi-FI" dirty="0"/>
              <a:t> </a:t>
            </a:r>
            <a:r>
              <a:rPr lang="fi-FI" dirty="0" err="1"/>
              <a:t>had</a:t>
            </a:r>
            <a:r>
              <a:rPr lang="fi-FI" dirty="0"/>
              <a:t> </a:t>
            </a:r>
            <a:r>
              <a:rPr lang="fi-FI" dirty="0" err="1"/>
              <a:t>correlation</a:t>
            </a:r>
            <a:r>
              <a:rPr lang="fi-FI" dirty="0"/>
              <a:t> </a:t>
            </a:r>
            <a:r>
              <a:rPr lang="fi-FI" dirty="0" err="1"/>
              <a:t>with</a:t>
            </a:r>
            <a:r>
              <a:rPr lang="fi-FI" dirty="0"/>
              <a:t> </a:t>
            </a:r>
            <a:r>
              <a:rPr lang="fi-FI" dirty="0" err="1"/>
              <a:t>each</a:t>
            </a:r>
            <a:r>
              <a:rPr lang="fi-FI" dirty="0"/>
              <a:t> </a:t>
            </a:r>
            <a:r>
              <a:rPr lang="fi-FI" dirty="0" err="1"/>
              <a:t>other</a:t>
            </a:r>
            <a:r>
              <a:rPr lang="fi-FI" dirty="0"/>
              <a:t> (&gt;0.8) </a:t>
            </a:r>
          </a:p>
          <a:p>
            <a:r>
              <a:rPr lang="fi-FI" dirty="0" err="1"/>
              <a:t>Final</a:t>
            </a:r>
            <a:r>
              <a:rPr lang="fi-FI" dirty="0"/>
              <a:t> set of </a:t>
            </a:r>
            <a:r>
              <a:rPr lang="fi-FI" dirty="0" err="1"/>
              <a:t>useful</a:t>
            </a:r>
            <a:r>
              <a:rPr lang="fi-FI" dirty="0"/>
              <a:t> </a:t>
            </a:r>
            <a:r>
              <a:rPr lang="fi-FI" dirty="0" err="1"/>
              <a:t>features</a:t>
            </a:r>
            <a:r>
              <a:rPr lang="fi-FI" dirty="0"/>
              <a:t> </a:t>
            </a:r>
            <a:r>
              <a:rPr lang="fi-FI" dirty="0" err="1"/>
              <a:t>with</a:t>
            </a:r>
            <a:r>
              <a:rPr lang="fi-FI" dirty="0"/>
              <a:t> </a:t>
            </a:r>
            <a:r>
              <a:rPr lang="fi-FI" dirty="0" err="1"/>
              <a:t>reasonable</a:t>
            </a:r>
            <a:r>
              <a:rPr lang="fi-FI" dirty="0"/>
              <a:t> </a:t>
            </a:r>
            <a:r>
              <a:rPr lang="fi-FI" dirty="0" err="1"/>
              <a:t>collinearity</a:t>
            </a:r>
            <a:endParaRPr lang="fi-FI" dirty="0"/>
          </a:p>
          <a:p>
            <a:pPr lvl="1"/>
            <a:r>
              <a:rPr lang="en-US" dirty="0" err="1"/>
              <a:t>customer_id</a:t>
            </a:r>
            <a:endParaRPr lang="en-US" dirty="0"/>
          </a:p>
          <a:p>
            <a:pPr lvl="1"/>
            <a:r>
              <a:rPr lang="en-US" dirty="0"/>
              <a:t>Recency</a:t>
            </a:r>
          </a:p>
          <a:p>
            <a:pPr lvl="1"/>
            <a:r>
              <a:rPr lang="en-US" dirty="0"/>
              <a:t>Frequency</a:t>
            </a:r>
          </a:p>
          <a:p>
            <a:pPr lvl="1"/>
            <a:r>
              <a:rPr lang="en-US" dirty="0"/>
              <a:t>Monetary</a:t>
            </a:r>
          </a:p>
          <a:p>
            <a:pPr lvl="1"/>
            <a:r>
              <a:rPr lang="en-US" dirty="0" err="1"/>
              <a:t>avg_order_value</a:t>
            </a:r>
            <a:endParaRPr lang="en-US" dirty="0"/>
          </a:p>
          <a:p>
            <a:pPr lvl="1"/>
            <a:r>
              <a:rPr lang="en-US" dirty="0" err="1"/>
              <a:t>unique_products_purchased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std_basket_value</a:t>
            </a:r>
            <a:endParaRPr lang="en-US" dirty="0"/>
          </a:p>
          <a:p>
            <a:pPr lvl="1"/>
            <a:r>
              <a:rPr lang="en-US" dirty="0" err="1"/>
              <a:t>preferred_day_count</a:t>
            </a:r>
            <a:r>
              <a:rPr lang="en-US" dirty="0"/>
              <a:t> </a:t>
            </a:r>
            <a:br>
              <a:rPr lang="en-US" dirty="0"/>
            </a:br>
            <a:endParaRPr lang="fi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FEDFC-9076-AABD-F5E2-E0920656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164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219374-BC9E-F5D7-4FE4-CB26F5E3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04799"/>
            <a:ext cx="4621553" cy="1042737"/>
          </a:xfrm>
        </p:spPr>
        <p:txBody>
          <a:bodyPr anchor="b">
            <a:normAutofit fontScale="90000"/>
          </a:bodyPr>
          <a:lstStyle/>
          <a:p>
            <a:r>
              <a:rPr lang="fi-FI" dirty="0"/>
              <a:t>ML (</a:t>
            </a:r>
            <a:r>
              <a:rPr lang="fi-FI" dirty="0" err="1"/>
              <a:t>Logistic</a:t>
            </a:r>
            <a:r>
              <a:rPr lang="fi-FI" dirty="0"/>
              <a:t> Regression)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6FE10-0C87-E8A7-3806-19B3FF330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480" y="1364857"/>
            <a:ext cx="4621553" cy="413758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fi-FI" sz="1800" dirty="0" err="1"/>
              <a:t>Problem</a:t>
            </a:r>
            <a:r>
              <a:rPr lang="fi-FI" sz="1800" dirty="0"/>
              <a:t> </a:t>
            </a:r>
            <a:r>
              <a:rPr lang="fi-FI" sz="1800" dirty="0" err="1"/>
              <a:t>question</a:t>
            </a:r>
            <a:r>
              <a:rPr lang="fi-FI" sz="1800" dirty="0"/>
              <a:t>: Is </a:t>
            </a:r>
            <a:r>
              <a:rPr lang="fi-FI" sz="1800" dirty="0" err="1"/>
              <a:t>the</a:t>
            </a:r>
            <a:r>
              <a:rPr lang="fi-FI" sz="1800" dirty="0"/>
              <a:t> </a:t>
            </a:r>
            <a:r>
              <a:rPr lang="fi-FI" sz="1800" dirty="0" err="1"/>
              <a:t>customer</a:t>
            </a:r>
            <a:r>
              <a:rPr lang="fi-FI" sz="1800" dirty="0"/>
              <a:t> </a:t>
            </a:r>
            <a:r>
              <a:rPr lang="fi-FI" sz="1800" dirty="0" err="1"/>
              <a:t>going</a:t>
            </a:r>
            <a:r>
              <a:rPr lang="fi-FI" sz="1800" dirty="0"/>
              <a:t> to </a:t>
            </a:r>
            <a:r>
              <a:rPr lang="fi-FI" sz="1800" dirty="0" err="1"/>
              <a:t>be</a:t>
            </a:r>
            <a:r>
              <a:rPr lang="fi-FI" sz="1800" dirty="0"/>
              <a:t> </a:t>
            </a:r>
            <a:r>
              <a:rPr lang="fi-FI" sz="1800" dirty="0" err="1"/>
              <a:t>inactive</a:t>
            </a:r>
            <a:r>
              <a:rPr lang="fi-FI" sz="1800" dirty="0"/>
              <a:t>?</a:t>
            </a:r>
          </a:p>
          <a:p>
            <a:pPr>
              <a:lnSpc>
                <a:spcPct val="110000"/>
              </a:lnSpc>
            </a:pPr>
            <a:r>
              <a:rPr lang="fi-FI" sz="1800" dirty="0"/>
              <a:t>CHURN</a:t>
            </a:r>
          </a:p>
          <a:p>
            <a:pPr lvl="1">
              <a:lnSpc>
                <a:spcPct val="110000"/>
              </a:lnSpc>
            </a:pPr>
            <a:r>
              <a:rPr lang="fi-FI" dirty="0"/>
              <a:t>A </a:t>
            </a:r>
            <a:r>
              <a:rPr lang="fi-FI" dirty="0" err="1"/>
              <a:t>customer</a:t>
            </a:r>
            <a:r>
              <a:rPr lang="fi-FI" dirty="0"/>
              <a:t> </a:t>
            </a:r>
            <a:r>
              <a:rPr lang="fi-FI" dirty="0" err="1"/>
              <a:t>with</a:t>
            </a:r>
            <a:r>
              <a:rPr lang="fi-FI" dirty="0"/>
              <a:t> </a:t>
            </a:r>
            <a:r>
              <a:rPr lang="fi-FI" dirty="0" err="1"/>
              <a:t>last</a:t>
            </a:r>
            <a:r>
              <a:rPr lang="fi-FI" dirty="0"/>
              <a:t> </a:t>
            </a:r>
            <a:r>
              <a:rPr lang="fi-FI" dirty="0" err="1"/>
              <a:t>order</a:t>
            </a:r>
            <a:r>
              <a:rPr lang="fi-FI" dirty="0"/>
              <a:t> 60 </a:t>
            </a:r>
            <a:r>
              <a:rPr lang="fi-FI" dirty="0" err="1"/>
              <a:t>days</a:t>
            </a:r>
            <a:r>
              <a:rPr lang="fi-FI" dirty="0"/>
              <a:t> </a:t>
            </a:r>
            <a:r>
              <a:rPr lang="fi-FI" dirty="0" err="1"/>
              <a:t>ago</a:t>
            </a:r>
            <a:endParaRPr lang="fi-FI" dirty="0"/>
          </a:p>
          <a:p>
            <a:pPr>
              <a:lnSpc>
                <a:spcPct val="110000"/>
              </a:lnSpc>
            </a:pPr>
            <a:r>
              <a:rPr lang="fi-FI" sz="1800" dirty="0" err="1"/>
              <a:t>Base</a:t>
            </a:r>
            <a:r>
              <a:rPr lang="fi-FI" sz="1800" dirty="0"/>
              <a:t> </a:t>
            </a:r>
            <a:r>
              <a:rPr lang="fi-FI" sz="1800" dirty="0" err="1"/>
              <a:t>model</a:t>
            </a:r>
            <a:r>
              <a:rPr lang="fi-FI" sz="1800" dirty="0"/>
              <a:t> to </a:t>
            </a:r>
            <a:r>
              <a:rPr lang="fi-FI" sz="1800" dirty="0" err="1"/>
              <a:t>predict</a:t>
            </a:r>
            <a:r>
              <a:rPr lang="fi-FI" sz="1800" dirty="0"/>
              <a:t>: </a:t>
            </a:r>
            <a:r>
              <a:rPr lang="fi-FI" sz="1800" dirty="0" err="1"/>
              <a:t>Logistic</a:t>
            </a:r>
            <a:r>
              <a:rPr lang="fi-FI" sz="1800" dirty="0"/>
              <a:t> Regression</a:t>
            </a:r>
          </a:p>
          <a:p>
            <a:pPr>
              <a:lnSpc>
                <a:spcPct val="110000"/>
              </a:lnSpc>
            </a:pPr>
            <a:r>
              <a:rPr lang="fi-FI" sz="1800" dirty="0"/>
              <a:t>Train-</a:t>
            </a:r>
            <a:r>
              <a:rPr lang="fi-FI" sz="1800" dirty="0" err="1"/>
              <a:t>test</a:t>
            </a:r>
            <a:r>
              <a:rPr lang="fi-FI" sz="1800" dirty="0"/>
              <a:t> </a:t>
            </a:r>
            <a:r>
              <a:rPr lang="fi-FI" sz="1800" dirty="0" err="1"/>
              <a:t>split</a:t>
            </a:r>
            <a:r>
              <a:rPr lang="fi-FI" sz="1800" dirty="0"/>
              <a:t>: 80-20</a:t>
            </a:r>
          </a:p>
          <a:p>
            <a:pPr>
              <a:lnSpc>
                <a:spcPct val="110000"/>
              </a:lnSpc>
            </a:pPr>
            <a:r>
              <a:rPr lang="fi-FI" sz="1800" dirty="0" err="1"/>
              <a:t>Results</a:t>
            </a:r>
            <a:r>
              <a:rPr lang="fi-FI" sz="1800" dirty="0"/>
              <a:t>: </a:t>
            </a:r>
            <a:r>
              <a:rPr lang="fi-FI" sz="1800" dirty="0" err="1"/>
              <a:t>Too</a:t>
            </a:r>
            <a:r>
              <a:rPr lang="fi-FI" sz="1800" dirty="0"/>
              <a:t> </a:t>
            </a:r>
            <a:r>
              <a:rPr lang="fi-FI" sz="1800" dirty="0" err="1"/>
              <a:t>close</a:t>
            </a:r>
            <a:r>
              <a:rPr lang="fi-FI" sz="1800" dirty="0"/>
              <a:t> to </a:t>
            </a:r>
            <a:r>
              <a:rPr lang="fi-FI" sz="1800" dirty="0" err="1"/>
              <a:t>ideal</a:t>
            </a:r>
            <a:r>
              <a:rPr lang="fi-FI" sz="1800" dirty="0"/>
              <a:t> </a:t>
            </a:r>
            <a:r>
              <a:rPr lang="fi-FI" sz="1800" dirty="0" err="1"/>
              <a:t>because</a:t>
            </a:r>
            <a:r>
              <a:rPr lang="fi-FI" sz="1800" dirty="0"/>
              <a:t> </a:t>
            </a:r>
            <a:r>
              <a:rPr lang="en-US" sz="1800" dirty="0"/>
              <a:t>we used Recency to define Churn. Then used Recency to predict Churn.</a:t>
            </a:r>
          </a:p>
          <a:p>
            <a:pPr>
              <a:lnSpc>
                <a:spcPct val="110000"/>
              </a:lnSpc>
            </a:pPr>
            <a:endParaRPr lang="fi-FI" sz="1800" dirty="0"/>
          </a:p>
          <a:p>
            <a:pPr marL="0" indent="0">
              <a:lnSpc>
                <a:spcPct val="110000"/>
              </a:lnSpc>
              <a:buNone/>
            </a:pPr>
            <a:endParaRPr lang="fi-FI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85D840-8BDD-21E9-1D6D-B0410A7D1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305" y="596323"/>
            <a:ext cx="6433442" cy="514675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E004B1-1875-8400-F509-B0188E2DD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50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87CB8F-3306-2D2E-D878-CA439A3E8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34559"/>
            <a:ext cx="4621553" cy="1360728"/>
          </a:xfrm>
        </p:spPr>
        <p:txBody>
          <a:bodyPr anchor="b">
            <a:normAutofit/>
          </a:bodyPr>
          <a:lstStyle/>
          <a:p>
            <a:r>
              <a:rPr lang="fi-FI" dirty="0"/>
              <a:t>ML </a:t>
            </a:r>
            <a:r>
              <a:rPr lang="fi-FI" dirty="0" err="1"/>
              <a:t>cont’d</a:t>
            </a:r>
            <a:r>
              <a:rPr lang="fi-FI" dirty="0"/>
              <a:t> (</a:t>
            </a:r>
            <a:r>
              <a:rPr lang="fi-FI" dirty="0" err="1"/>
              <a:t>Logistic</a:t>
            </a:r>
            <a:r>
              <a:rPr lang="fi-FI" dirty="0"/>
              <a:t> Regression)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C0DBBA6-C722-AC3F-5FE6-99EB43390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29846"/>
            <a:ext cx="4621553" cy="3159018"/>
          </a:xfrm>
        </p:spPr>
        <p:txBody>
          <a:bodyPr>
            <a:normAutofit/>
          </a:bodyPr>
          <a:lstStyle/>
          <a:p>
            <a:r>
              <a:rPr lang="en-US" sz="1800" dirty="0"/>
              <a:t>Correct and adjusted results</a:t>
            </a:r>
          </a:p>
          <a:p>
            <a:r>
              <a:rPr lang="fi-FI" sz="1800" dirty="0" err="1"/>
              <a:t>Model</a:t>
            </a:r>
            <a:r>
              <a:rPr lang="fi-FI" sz="1800" dirty="0"/>
              <a:t> Performance:</a:t>
            </a:r>
          </a:p>
          <a:p>
            <a:pPr lvl="1"/>
            <a:r>
              <a:rPr lang="fi-FI" dirty="0" err="1"/>
              <a:t>Accuracy</a:t>
            </a:r>
            <a:r>
              <a:rPr lang="fi-FI" dirty="0"/>
              <a:t>: 0.6837 </a:t>
            </a:r>
          </a:p>
          <a:p>
            <a:pPr lvl="1"/>
            <a:r>
              <a:rPr lang="fi-FI" dirty="0"/>
              <a:t>Precision: 0.5992</a:t>
            </a:r>
          </a:p>
          <a:p>
            <a:pPr lvl="1"/>
            <a:r>
              <a:rPr lang="fi-FI" dirty="0" err="1"/>
              <a:t>Recall</a:t>
            </a:r>
            <a:r>
              <a:rPr lang="fi-FI" dirty="0"/>
              <a:t>: 0.8329 </a:t>
            </a:r>
          </a:p>
          <a:p>
            <a:pPr lvl="1"/>
            <a:r>
              <a:rPr lang="fi-FI" dirty="0"/>
              <a:t>F1-Score: 0.6970</a:t>
            </a:r>
          </a:p>
          <a:p>
            <a:pPr lvl="1"/>
            <a:r>
              <a:rPr lang="fi-FI" dirty="0"/>
              <a:t>ROC-AUC: 0.7598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71AD83E-5EDF-FB25-F8C7-6A18F6A25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201" y="736679"/>
            <a:ext cx="6277614" cy="500639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554D0-F8C2-3CE4-347A-7FECB0F6E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45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B98126-2E8F-D685-C77C-A9EDA5242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9B756D8-B3A2-A4D3-C999-C2C7FB31C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5D0499-B759-8047-9AFE-33A4A6CC1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8819"/>
            <a:ext cx="4621553" cy="1034577"/>
          </a:xfrm>
        </p:spPr>
        <p:txBody>
          <a:bodyPr anchor="b">
            <a:normAutofit fontScale="90000"/>
          </a:bodyPr>
          <a:lstStyle/>
          <a:p>
            <a:r>
              <a:rPr lang="fi-FI" dirty="0"/>
              <a:t>ML </a:t>
            </a:r>
            <a:r>
              <a:rPr lang="fi-FI" dirty="0" err="1"/>
              <a:t>cont’d</a:t>
            </a:r>
            <a:r>
              <a:rPr lang="fi-FI" dirty="0"/>
              <a:t> (</a:t>
            </a:r>
            <a:r>
              <a:rPr lang="fi-FI" dirty="0" err="1"/>
              <a:t>Decision</a:t>
            </a:r>
            <a:r>
              <a:rPr lang="fi-FI" dirty="0"/>
              <a:t> </a:t>
            </a:r>
            <a:r>
              <a:rPr lang="fi-FI" dirty="0" err="1"/>
              <a:t>Trees</a:t>
            </a:r>
            <a:r>
              <a:rPr lang="fi-FI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31DCE9-1011-9219-EDF8-90C3430DA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70170C-358C-7BA3-AA0F-E2E85B749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966" y="1507958"/>
            <a:ext cx="9955034" cy="4955654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4886546-5632-4383-9F97-03F97246B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26" y="1073396"/>
            <a:ext cx="4621553" cy="3159018"/>
          </a:xfrm>
        </p:spPr>
        <p:txBody>
          <a:bodyPr>
            <a:normAutofit/>
          </a:bodyPr>
          <a:lstStyle/>
          <a:p>
            <a:r>
              <a:rPr lang="en-US" sz="1800" dirty="0"/>
              <a:t>Correct and adjusted results</a:t>
            </a:r>
          </a:p>
          <a:p>
            <a:r>
              <a:rPr lang="fi-FI" sz="1800" dirty="0" err="1"/>
              <a:t>Model</a:t>
            </a:r>
            <a:r>
              <a:rPr lang="fi-FI" sz="1800" dirty="0"/>
              <a:t> Performance:</a:t>
            </a:r>
          </a:p>
          <a:p>
            <a:pPr lvl="1"/>
            <a:r>
              <a:rPr lang="fi-FI" dirty="0" err="1"/>
              <a:t>Accuracy</a:t>
            </a:r>
            <a:r>
              <a:rPr lang="fi-FI" dirty="0"/>
              <a:t>: 0.6837 </a:t>
            </a:r>
          </a:p>
          <a:p>
            <a:pPr lvl="1"/>
            <a:r>
              <a:rPr lang="fi-FI" dirty="0"/>
              <a:t>Precision: 0.5992</a:t>
            </a:r>
          </a:p>
          <a:p>
            <a:pPr lvl="1"/>
            <a:r>
              <a:rPr lang="fi-FI" dirty="0" err="1"/>
              <a:t>Recall</a:t>
            </a:r>
            <a:r>
              <a:rPr lang="fi-FI" dirty="0"/>
              <a:t>: 0.8329 </a:t>
            </a:r>
          </a:p>
          <a:p>
            <a:pPr lvl="1"/>
            <a:r>
              <a:rPr lang="fi-FI" dirty="0"/>
              <a:t>F1-Score: 0.6970</a:t>
            </a:r>
          </a:p>
          <a:p>
            <a:pPr lvl="1"/>
            <a:r>
              <a:rPr lang="fi-FI" dirty="0"/>
              <a:t>ROC-AUC: 0.7598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102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C21D0DB-B962-711D-ECA1-04D3FE5105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210"/>
          <a:stretch>
            <a:fillRect/>
          </a:stretch>
        </p:blipFill>
        <p:spPr>
          <a:xfrm>
            <a:off x="171450" y="1"/>
            <a:ext cx="6848059" cy="44328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26B58-BE10-5BB0-9E61-14669935D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15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5A255C-FEB9-B810-1EAF-0B85C5E9F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509" y="443159"/>
            <a:ext cx="5172491" cy="44866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88A511-FA61-DC8D-0AE5-723A835582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2325"/>
          <a:stretch>
            <a:fillRect/>
          </a:stretch>
        </p:blipFill>
        <p:spPr>
          <a:xfrm>
            <a:off x="2842396" y="3109884"/>
            <a:ext cx="4177113" cy="33431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987DF6-0A12-77B0-AE71-0F3F90928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977" y="5335911"/>
            <a:ext cx="4621553" cy="1034577"/>
          </a:xfrm>
        </p:spPr>
        <p:txBody>
          <a:bodyPr anchor="b">
            <a:normAutofit fontScale="90000"/>
          </a:bodyPr>
          <a:lstStyle/>
          <a:p>
            <a:r>
              <a:rPr lang="fi-FI" dirty="0"/>
              <a:t>ML </a:t>
            </a:r>
            <a:r>
              <a:rPr lang="fi-FI" dirty="0" err="1"/>
              <a:t>cont’d</a:t>
            </a:r>
            <a:r>
              <a:rPr lang="fi-FI" dirty="0"/>
              <a:t> (K-</a:t>
            </a:r>
            <a:r>
              <a:rPr lang="fi-FI" dirty="0" err="1"/>
              <a:t>Means</a:t>
            </a:r>
            <a:r>
              <a:rPr lang="fi-FI" dirty="0"/>
              <a:t> Clustering)</a:t>
            </a:r>
          </a:p>
        </p:txBody>
      </p:sp>
    </p:spTree>
    <p:extLst>
      <p:ext uri="{BB962C8B-B14F-4D97-AF65-F5344CB8AC3E}">
        <p14:creationId xmlns:p14="http://schemas.microsoft.com/office/powerpoint/2010/main" val="1265597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BB2A65-0560-6372-355D-5FC850FCB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3009993-433E-E50B-05C4-9B820A3CF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BBED82-87F7-D3F4-B0E0-19EFE1D5E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34559"/>
            <a:ext cx="4621553" cy="1360728"/>
          </a:xfrm>
        </p:spPr>
        <p:txBody>
          <a:bodyPr anchor="b">
            <a:normAutofit/>
          </a:bodyPr>
          <a:lstStyle/>
          <a:p>
            <a:r>
              <a:rPr lang="fi-FI" dirty="0"/>
              <a:t>ML </a:t>
            </a:r>
            <a:r>
              <a:rPr lang="fi-FI" dirty="0" err="1"/>
              <a:t>cont’d</a:t>
            </a:r>
            <a:r>
              <a:rPr lang="fi-FI" dirty="0"/>
              <a:t> (Random </a:t>
            </a:r>
            <a:r>
              <a:rPr lang="fi-FI" dirty="0" err="1"/>
              <a:t>Forest</a:t>
            </a:r>
            <a:r>
              <a:rPr lang="fi-FI" dirty="0"/>
              <a:t>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83F03AA-7778-A107-E347-4F118F605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29846"/>
            <a:ext cx="4621553" cy="3159018"/>
          </a:xfrm>
        </p:spPr>
        <p:txBody>
          <a:bodyPr>
            <a:normAutofit lnSpcReduction="10000"/>
          </a:bodyPr>
          <a:lstStyle/>
          <a:p>
            <a:r>
              <a:rPr lang="fi-FI" sz="1800" dirty="0" err="1"/>
              <a:t>Number</a:t>
            </a:r>
            <a:r>
              <a:rPr lang="fi-FI" sz="1800" dirty="0"/>
              <a:t> of </a:t>
            </a:r>
            <a:r>
              <a:rPr lang="fi-FI" sz="1800" dirty="0" err="1"/>
              <a:t>trees</a:t>
            </a:r>
            <a:r>
              <a:rPr lang="fi-FI" sz="1800" dirty="0"/>
              <a:t>: 100</a:t>
            </a:r>
          </a:p>
          <a:p>
            <a:r>
              <a:rPr lang="fi-FI" sz="1800" dirty="0"/>
              <a:t>Max </a:t>
            </a:r>
            <a:r>
              <a:rPr lang="fi-FI" sz="1800" dirty="0" err="1"/>
              <a:t>depth</a:t>
            </a:r>
            <a:r>
              <a:rPr lang="fi-FI" sz="1800" dirty="0"/>
              <a:t>: 10</a:t>
            </a:r>
          </a:p>
          <a:p>
            <a:r>
              <a:rPr lang="fi-FI" sz="1800" dirty="0" err="1"/>
              <a:t>Model</a:t>
            </a:r>
            <a:r>
              <a:rPr lang="fi-FI" sz="1800" dirty="0"/>
              <a:t> Performance:</a:t>
            </a:r>
          </a:p>
          <a:p>
            <a:pPr lvl="1"/>
            <a:r>
              <a:rPr lang="fi-FI" dirty="0" err="1"/>
              <a:t>Accuracy</a:t>
            </a:r>
            <a:r>
              <a:rPr lang="fi-FI" dirty="0"/>
              <a:t>: 0.6906 </a:t>
            </a:r>
          </a:p>
          <a:p>
            <a:pPr lvl="1"/>
            <a:r>
              <a:rPr lang="fi-FI" dirty="0"/>
              <a:t>Precision: 0.6418</a:t>
            </a:r>
          </a:p>
          <a:p>
            <a:pPr lvl="1"/>
            <a:r>
              <a:rPr lang="fi-FI" dirty="0" err="1"/>
              <a:t>Recall</a:t>
            </a:r>
            <a:r>
              <a:rPr lang="fi-FI" dirty="0"/>
              <a:t>: 0.6605 </a:t>
            </a:r>
          </a:p>
          <a:p>
            <a:pPr lvl="1"/>
            <a:r>
              <a:rPr lang="fi-FI" dirty="0"/>
              <a:t>F1-Score: 0.6510</a:t>
            </a:r>
          </a:p>
          <a:p>
            <a:pPr lvl="1"/>
            <a:r>
              <a:rPr lang="fi-FI" dirty="0"/>
              <a:t>ROC-AUC: 0.7610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9E99D-0C5C-53FC-7BB5-050638FD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076DE4-E924-3555-DD40-9C8882EAB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925" y="576426"/>
            <a:ext cx="5868219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832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8F33-1769-0D9C-CF8E-51057C733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Model</a:t>
            </a:r>
            <a:r>
              <a:rPr lang="fi-FI" dirty="0"/>
              <a:t> Performance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DC682BD-08E9-2488-6882-1E745C423F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080" y="1114769"/>
            <a:ext cx="9356506" cy="463855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3E7A0-A3BF-5A7F-C0DB-4F30A26A5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17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C21897C-7207-160F-C0D4-1B67FFF73D6D}"/>
              </a:ext>
            </a:extLst>
          </p:cNvPr>
          <p:cNvSpPr txBox="1">
            <a:spLocks/>
          </p:cNvSpPr>
          <p:nvPr/>
        </p:nvSpPr>
        <p:spPr>
          <a:xfrm>
            <a:off x="181048" y="5503306"/>
            <a:ext cx="671352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 sz="2800" b="0" dirty="0" err="1"/>
              <a:t>Final</a:t>
            </a:r>
            <a:r>
              <a:rPr lang="fi-FI" sz="2800" b="0" dirty="0"/>
              <a:t> </a:t>
            </a:r>
            <a:r>
              <a:rPr lang="fi-FI" sz="2800" b="0" dirty="0" err="1"/>
              <a:t>Selection</a:t>
            </a:r>
            <a:r>
              <a:rPr lang="fi-FI" sz="2800" b="0" dirty="0"/>
              <a:t>:</a:t>
            </a:r>
          </a:p>
          <a:p>
            <a:r>
              <a:rPr lang="fi-FI" sz="2800" b="0" dirty="0"/>
              <a:t>	</a:t>
            </a:r>
            <a:r>
              <a:rPr lang="fi-FI" sz="2800" b="0" dirty="0" err="1"/>
              <a:t>Logistic</a:t>
            </a:r>
            <a:r>
              <a:rPr lang="fi-FI" sz="2800" b="0" dirty="0"/>
              <a:t> Regression </a:t>
            </a:r>
            <a:r>
              <a:rPr lang="fi-FI" sz="2800" b="0" dirty="0" err="1"/>
              <a:t>because</a:t>
            </a:r>
            <a:r>
              <a:rPr lang="fi-FI" sz="2800" b="0" dirty="0"/>
              <a:t> of</a:t>
            </a:r>
            <a:br>
              <a:rPr lang="fi-FI" sz="2800" b="0" dirty="0"/>
            </a:br>
            <a:r>
              <a:rPr lang="fi-FI" sz="2800" b="0" dirty="0"/>
              <a:t>	</a:t>
            </a:r>
            <a:r>
              <a:rPr lang="fi-FI" sz="2800" b="0" dirty="0" err="1"/>
              <a:t>the</a:t>
            </a:r>
            <a:r>
              <a:rPr lang="fi-FI" sz="2800" b="0" dirty="0"/>
              <a:t> </a:t>
            </a:r>
            <a:r>
              <a:rPr lang="fi-FI" sz="2800" b="0" dirty="0" err="1"/>
              <a:t>comparatively</a:t>
            </a:r>
            <a:r>
              <a:rPr lang="fi-FI" sz="2800" b="0" dirty="0"/>
              <a:t> </a:t>
            </a:r>
            <a:r>
              <a:rPr lang="fi-FI" sz="2800" b="0" dirty="0" err="1"/>
              <a:t>better</a:t>
            </a:r>
            <a:r>
              <a:rPr lang="fi-FI" sz="2800" b="0" dirty="0"/>
              <a:t> </a:t>
            </a:r>
            <a:r>
              <a:rPr lang="fi-FI" sz="2800" b="0" dirty="0" err="1"/>
              <a:t>Recall</a:t>
            </a:r>
            <a:r>
              <a:rPr lang="fi-FI" sz="2800" b="0" dirty="0"/>
              <a:t> (83%)</a:t>
            </a:r>
          </a:p>
        </p:txBody>
      </p:sp>
    </p:spTree>
    <p:extLst>
      <p:ext uri="{BB962C8B-B14F-4D97-AF65-F5344CB8AC3E}">
        <p14:creationId xmlns:p14="http://schemas.microsoft.com/office/powerpoint/2010/main" val="2869027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3658A-87B9-4882-C5A1-2779E7A16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0A3DD-EDB7-66DF-408C-364219803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Machine Learning (</a:t>
            </a:r>
            <a:r>
              <a:rPr lang="fi-FI" dirty="0" err="1"/>
              <a:t>Ethical</a:t>
            </a:r>
            <a:r>
              <a:rPr lang="fi-FI" dirty="0"/>
              <a:t> </a:t>
            </a:r>
            <a:r>
              <a:rPr lang="fi-FI" dirty="0" err="1"/>
              <a:t>Consequences</a:t>
            </a:r>
            <a:r>
              <a:rPr lang="fi-FI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45C9F-A630-92BE-4074-7409605BC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3A068E-1626-84B4-4593-9715CB001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fi-FI" dirty="0" err="1"/>
              <a:t>Customer</a:t>
            </a:r>
            <a:r>
              <a:rPr lang="fi-FI" dirty="0"/>
              <a:t> </a:t>
            </a:r>
            <a:r>
              <a:rPr lang="fi-FI" dirty="0" err="1"/>
              <a:t>bias</a:t>
            </a:r>
            <a:r>
              <a:rPr lang="fi-FI" dirty="0"/>
              <a:t> </a:t>
            </a:r>
            <a:r>
              <a:rPr lang="fi-FI" dirty="0" err="1"/>
              <a:t>while</a:t>
            </a:r>
            <a:r>
              <a:rPr lang="fi-FI" dirty="0"/>
              <a:t> </a:t>
            </a:r>
            <a:r>
              <a:rPr lang="fi-FI" dirty="0" err="1"/>
              <a:t>predicting</a:t>
            </a:r>
            <a:r>
              <a:rPr lang="fi-FI" dirty="0"/>
              <a:t> </a:t>
            </a:r>
            <a:r>
              <a:rPr lang="fi-FI" dirty="0" err="1"/>
              <a:t>churn</a:t>
            </a:r>
            <a:endParaRPr lang="fi-FI" dirty="0"/>
          </a:p>
          <a:p>
            <a:pPr lvl="1"/>
            <a:r>
              <a:rPr lang="fi-FI" dirty="0" err="1"/>
              <a:t>Underrepresented</a:t>
            </a:r>
            <a:r>
              <a:rPr lang="fi-FI" dirty="0"/>
              <a:t> </a:t>
            </a:r>
            <a:r>
              <a:rPr lang="fi-FI" dirty="0" err="1"/>
              <a:t>customers</a:t>
            </a:r>
            <a:r>
              <a:rPr lang="fi-FI" dirty="0"/>
              <a:t> </a:t>
            </a:r>
            <a:r>
              <a:rPr lang="fi-FI" dirty="0" err="1"/>
              <a:t>likely</a:t>
            </a:r>
            <a:r>
              <a:rPr lang="fi-FI" dirty="0"/>
              <a:t> to </a:t>
            </a:r>
            <a:r>
              <a:rPr lang="fi-FI" dirty="0" err="1"/>
              <a:t>be</a:t>
            </a:r>
            <a:r>
              <a:rPr lang="fi-FI" dirty="0"/>
              <a:t> </a:t>
            </a:r>
            <a:r>
              <a:rPr lang="fi-FI" dirty="0" err="1"/>
              <a:t>predicted</a:t>
            </a:r>
            <a:r>
              <a:rPr lang="fi-FI" dirty="0"/>
              <a:t> as ”</a:t>
            </a:r>
            <a:r>
              <a:rPr lang="fi-FI" dirty="0" err="1"/>
              <a:t>churned</a:t>
            </a:r>
            <a:r>
              <a:rPr lang="fi-FI" dirty="0"/>
              <a:t>”</a:t>
            </a:r>
          </a:p>
          <a:p>
            <a:pPr marL="457200" indent="-457200">
              <a:buFont typeface="+mj-lt"/>
              <a:buAutoNum type="arabicPeriod"/>
            </a:pPr>
            <a:r>
              <a:rPr lang="fi-FI" dirty="0" err="1"/>
              <a:t>Transparency</a:t>
            </a:r>
            <a:r>
              <a:rPr lang="fi-FI" dirty="0"/>
              <a:t> (ML as Black Box)</a:t>
            </a:r>
          </a:p>
          <a:p>
            <a:pPr marL="457200" indent="-457200">
              <a:buFont typeface="+mj-lt"/>
              <a:buAutoNum type="arabicPeriod"/>
            </a:pPr>
            <a:r>
              <a:rPr lang="fi-FI" dirty="0" err="1"/>
              <a:t>Overreliance</a:t>
            </a:r>
            <a:r>
              <a:rPr lang="fi-FI" dirty="0"/>
              <a:t> on </a:t>
            </a:r>
            <a:r>
              <a:rPr lang="fi-FI" dirty="0" err="1"/>
              <a:t>machine</a:t>
            </a:r>
            <a:r>
              <a:rPr lang="fi-FI" dirty="0"/>
              <a:t> </a:t>
            </a:r>
            <a:r>
              <a:rPr lang="fi-FI" dirty="0" err="1"/>
              <a:t>learning</a:t>
            </a:r>
            <a:endParaRPr lang="fi-FI" dirty="0"/>
          </a:p>
          <a:p>
            <a:pPr lvl="1"/>
            <a:r>
              <a:rPr lang="fi-FI" dirty="0" err="1"/>
              <a:t>Not</a:t>
            </a:r>
            <a:r>
              <a:rPr lang="fi-FI" dirty="0"/>
              <a:t> </a:t>
            </a:r>
            <a:r>
              <a:rPr lang="fi-FI" dirty="0" err="1"/>
              <a:t>always</a:t>
            </a:r>
            <a:r>
              <a:rPr lang="fi-FI" dirty="0"/>
              <a:t> </a:t>
            </a:r>
            <a:r>
              <a:rPr lang="fi-FI" dirty="0" err="1"/>
              <a:t>correct</a:t>
            </a:r>
            <a:r>
              <a:rPr lang="fi-FI" dirty="0"/>
              <a:t>, </a:t>
            </a:r>
            <a:r>
              <a:rPr lang="fi-FI" dirty="0" err="1"/>
              <a:t>needs</a:t>
            </a:r>
            <a:r>
              <a:rPr lang="fi-FI" dirty="0"/>
              <a:t> </a:t>
            </a:r>
            <a:r>
              <a:rPr lang="fi-FI" dirty="0" err="1"/>
              <a:t>human</a:t>
            </a:r>
            <a:r>
              <a:rPr lang="fi-FI" dirty="0"/>
              <a:t> </a:t>
            </a:r>
            <a:r>
              <a:rPr lang="fi-FI" dirty="0" err="1"/>
              <a:t>oversight</a:t>
            </a:r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006000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E0F70-94D9-D6BD-6355-30FB6DD33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830981"/>
          </a:xfrm>
        </p:spPr>
        <p:txBody>
          <a:bodyPr/>
          <a:lstStyle/>
          <a:p>
            <a:r>
              <a:rPr lang="fi-FI" dirty="0" err="1"/>
              <a:t>Challenges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DD597-C721-E76A-72E5-07350D7F3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379621"/>
            <a:ext cx="10653579" cy="4929739"/>
          </a:xfrm>
        </p:spPr>
        <p:txBody>
          <a:bodyPr/>
          <a:lstStyle/>
          <a:p>
            <a:r>
              <a:rPr lang="fi-FI" dirty="0"/>
              <a:t>A </a:t>
            </a:r>
            <a:r>
              <a:rPr lang="fi-FI" dirty="0" err="1"/>
              <a:t>lot</a:t>
            </a:r>
            <a:r>
              <a:rPr lang="fi-FI" dirty="0"/>
              <a:t> of </a:t>
            </a:r>
            <a:r>
              <a:rPr lang="fi-FI" dirty="0" err="1"/>
              <a:t>noise</a:t>
            </a:r>
            <a:r>
              <a:rPr lang="fi-FI" dirty="0"/>
              <a:t> in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customer</a:t>
            </a:r>
            <a:r>
              <a:rPr lang="fi-FI" dirty="0"/>
              <a:t> data</a:t>
            </a:r>
          </a:p>
          <a:p>
            <a:r>
              <a:rPr lang="fi-FI" dirty="0" err="1"/>
              <a:t>Figuring</a:t>
            </a:r>
            <a:r>
              <a:rPr lang="fi-FI" dirty="0"/>
              <a:t> out </a:t>
            </a:r>
            <a:r>
              <a:rPr lang="fi-FI" dirty="0" err="1"/>
              <a:t>what</a:t>
            </a:r>
            <a:r>
              <a:rPr lang="fi-FI" dirty="0"/>
              <a:t> </a:t>
            </a:r>
            <a:r>
              <a:rPr lang="fi-FI" dirty="0" err="1"/>
              <a:t>actually</a:t>
            </a:r>
            <a:r>
              <a:rPr lang="fi-FI" dirty="0"/>
              <a:t> is </a:t>
            </a:r>
            <a:r>
              <a:rPr lang="fi-FI" dirty="0" err="1"/>
              <a:t>affecting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data</a:t>
            </a:r>
          </a:p>
          <a:p>
            <a:r>
              <a:rPr lang="fi-FI" dirty="0" err="1"/>
              <a:t>Cleaning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features</a:t>
            </a:r>
            <a:r>
              <a:rPr lang="fi-FI" dirty="0"/>
              <a:t> and </a:t>
            </a:r>
            <a:r>
              <a:rPr lang="fi-FI" dirty="0" err="1"/>
              <a:t>deciding</a:t>
            </a:r>
            <a:r>
              <a:rPr lang="fi-FI" dirty="0"/>
              <a:t> </a:t>
            </a:r>
            <a:r>
              <a:rPr lang="fi-FI" dirty="0" err="1"/>
              <a:t>which</a:t>
            </a:r>
            <a:r>
              <a:rPr lang="fi-FI" dirty="0"/>
              <a:t> </a:t>
            </a:r>
            <a:r>
              <a:rPr lang="fi-FI" dirty="0" err="1"/>
              <a:t>cleaned</a:t>
            </a:r>
            <a:r>
              <a:rPr lang="fi-FI" dirty="0"/>
              <a:t> </a:t>
            </a:r>
            <a:r>
              <a:rPr lang="fi-FI" dirty="0" err="1"/>
              <a:t>features</a:t>
            </a:r>
            <a:r>
              <a:rPr lang="fi-FI" dirty="0"/>
              <a:t> to </a:t>
            </a:r>
            <a:r>
              <a:rPr lang="fi-FI" dirty="0" err="1"/>
              <a:t>keep</a:t>
            </a:r>
            <a:endParaRPr lang="fi-FI" dirty="0"/>
          </a:p>
          <a:p>
            <a:r>
              <a:rPr lang="fi-FI" dirty="0" err="1"/>
              <a:t>Extracting</a:t>
            </a:r>
            <a:r>
              <a:rPr lang="fi-FI" dirty="0"/>
              <a:t> </a:t>
            </a:r>
            <a:r>
              <a:rPr lang="fi-FI" dirty="0" err="1"/>
              <a:t>useful</a:t>
            </a:r>
            <a:r>
              <a:rPr lang="fi-FI" dirty="0"/>
              <a:t> </a:t>
            </a:r>
            <a:r>
              <a:rPr lang="fi-FI" dirty="0" err="1"/>
              <a:t>customer</a:t>
            </a:r>
            <a:r>
              <a:rPr lang="fi-FI" dirty="0"/>
              <a:t> </a:t>
            </a:r>
            <a:r>
              <a:rPr lang="fi-FI" dirty="0" err="1"/>
              <a:t>insights</a:t>
            </a:r>
            <a:r>
              <a:rPr lang="fi-FI" dirty="0"/>
              <a:t> </a:t>
            </a:r>
            <a:r>
              <a:rPr lang="fi-FI" dirty="0" err="1"/>
              <a:t>from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selected</a:t>
            </a:r>
            <a:r>
              <a:rPr lang="fi-FI" dirty="0"/>
              <a:t> </a:t>
            </a:r>
            <a:r>
              <a:rPr lang="fi-FI" dirty="0" err="1"/>
              <a:t>features</a:t>
            </a:r>
            <a:endParaRPr lang="fi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4E8C2-6E51-14D0-AA9B-4EFFC09DA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97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40AB8-5AA8-23D2-B9AB-055B4DA8E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0BA4A-BE2C-D227-CF07-6460453F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830981"/>
          </a:xfrm>
        </p:spPr>
        <p:txBody>
          <a:bodyPr/>
          <a:lstStyle/>
          <a:p>
            <a:r>
              <a:rPr lang="fi-FI" dirty="0" err="1"/>
              <a:t>Achievements</a:t>
            </a:r>
            <a:r>
              <a:rPr lang="fi-FI" dirty="0"/>
              <a:t> (</a:t>
            </a:r>
            <a:r>
              <a:rPr lang="fi-FI" dirty="0" err="1"/>
              <a:t>Self</a:t>
            </a:r>
            <a:r>
              <a:rPr lang="fi-FI" dirty="0"/>
              <a:t> </a:t>
            </a:r>
            <a:r>
              <a:rPr lang="fi-FI" dirty="0" err="1"/>
              <a:t>assessment</a:t>
            </a:r>
            <a:r>
              <a:rPr lang="fi-FI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8B31E-A21C-CA93-4D0E-0302CBF00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379621"/>
            <a:ext cx="10653579" cy="4929739"/>
          </a:xfrm>
        </p:spPr>
        <p:txBody>
          <a:bodyPr/>
          <a:lstStyle/>
          <a:p>
            <a:r>
              <a:rPr lang="fi-FI" dirty="0" err="1"/>
              <a:t>Achieved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goals</a:t>
            </a:r>
            <a:r>
              <a:rPr lang="fi-FI" dirty="0"/>
              <a:t> and </a:t>
            </a:r>
            <a:r>
              <a:rPr lang="fi-FI" dirty="0" err="1"/>
              <a:t>tasks</a:t>
            </a:r>
            <a:r>
              <a:rPr lang="fi-FI" dirty="0"/>
              <a:t> </a:t>
            </a:r>
            <a:r>
              <a:rPr lang="fi-FI" dirty="0" err="1"/>
              <a:t>initially</a:t>
            </a:r>
            <a:r>
              <a:rPr lang="fi-FI" dirty="0"/>
              <a:t> set</a:t>
            </a:r>
          </a:p>
          <a:p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results</a:t>
            </a:r>
            <a:r>
              <a:rPr lang="fi-FI" dirty="0"/>
              <a:t> of </a:t>
            </a:r>
            <a:r>
              <a:rPr lang="fi-FI" dirty="0" err="1"/>
              <a:t>machine</a:t>
            </a:r>
            <a:r>
              <a:rPr lang="fi-FI" dirty="0"/>
              <a:t> </a:t>
            </a:r>
            <a:r>
              <a:rPr lang="fi-FI" dirty="0" err="1"/>
              <a:t>learning</a:t>
            </a:r>
            <a:r>
              <a:rPr lang="fi-FI" dirty="0"/>
              <a:t> </a:t>
            </a:r>
            <a:r>
              <a:rPr lang="fi-FI" dirty="0" err="1"/>
              <a:t>models</a:t>
            </a:r>
            <a:r>
              <a:rPr lang="fi-FI" dirty="0"/>
              <a:t> </a:t>
            </a:r>
            <a:r>
              <a:rPr lang="fi-FI" dirty="0" err="1"/>
              <a:t>are</a:t>
            </a:r>
            <a:r>
              <a:rPr lang="fi-FI" dirty="0"/>
              <a:t> </a:t>
            </a:r>
            <a:r>
              <a:rPr lang="fi-FI" dirty="0" err="1"/>
              <a:t>still</a:t>
            </a:r>
            <a:r>
              <a:rPr lang="fi-FI" dirty="0"/>
              <a:t> </a:t>
            </a:r>
            <a:r>
              <a:rPr lang="fi-FI" dirty="0" err="1"/>
              <a:t>not</a:t>
            </a:r>
            <a:r>
              <a:rPr lang="fi-FI" dirty="0"/>
              <a:t> </a:t>
            </a:r>
            <a:r>
              <a:rPr lang="fi-FI" dirty="0" err="1"/>
              <a:t>ideal</a:t>
            </a:r>
            <a:endParaRPr lang="fi-FI" dirty="0"/>
          </a:p>
          <a:p>
            <a:endParaRPr lang="fi-FI" dirty="0"/>
          </a:p>
          <a:p>
            <a:r>
              <a:rPr lang="fi-FI"/>
              <a:t>Learning</a:t>
            </a:r>
            <a:r>
              <a:rPr lang="fi-FI" dirty="0"/>
              <a:t>:</a:t>
            </a:r>
          </a:p>
          <a:p>
            <a:pPr marL="571500" lvl="1" indent="-342900">
              <a:buFont typeface="+mj-lt"/>
              <a:buAutoNum type="arabicPeriod"/>
            </a:pPr>
            <a:r>
              <a:rPr lang="fi-FI" dirty="0"/>
              <a:t>SQL</a:t>
            </a:r>
          </a:p>
          <a:p>
            <a:pPr marL="571500" lvl="1" indent="-342900">
              <a:buFont typeface="+mj-lt"/>
              <a:buAutoNum type="arabicPeriod"/>
            </a:pPr>
            <a:r>
              <a:rPr lang="fi-FI" dirty="0" err="1"/>
              <a:t>Extracting</a:t>
            </a:r>
            <a:r>
              <a:rPr lang="fi-FI" dirty="0"/>
              <a:t> </a:t>
            </a:r>
            <a:r>
              <a:rPr lang="fi-FI" dirty="0" err="1"/>
              <a:t>useful</a:t>
            </a:r>
            <a:r>
              <a:rPr lang="fi-FI" dirty="0"/>
              <a:t> and </a:t>
            </a:r>
            <a:r>
              <a:rPr lang="fi-FI" dirty="0" err="1"/>
              <a:t>complex</a:t>
            </a:r>
            <a:r>
              <a:rPr lang="fi-FI" dirty="0"/>
              <a:t> </a:t>
            </a:r>
            <a:r>
              <a:rPr lang="fi-FI" dirty="0" err="1"/>
              <a:t>insights</a:t>
            </a:r>
            <a:r>
              <a:rPr lang="fi-FI" dirty="0"/>
              <a:t> out of a  </a:t>
            </a:r>
            <a:r>
              <a:rPr lang="fi-FI" dirty="0" err="1"/>
              <a:t>seemingly</a:t>
            </a:r>
            <a:r>
              <a:rPr lang="fi-FI" dirty="0"/>
              <a:t> </a:t>
            </a:r>
            <a:r>
              <a:rPr lang="fi-FI" dirty="0" err="1"/>
              <a:t>simple</a:t>
            </a:r>
            <a:r>
              <a:rPr lang="fi-FI" dirty="0"/>
              <a:t> data</a:t>
            </a:r>
          </a:p>
          <a:p>
            <a:pPr marL="571500" lvl="1" indent="-342900">
              <a:buFont typeface="+mj-lt"/>
              <a:buAutoNum type="arabicPeriod"/>
            </a:pPr>
            <a:r>
              <a:rPr lang="fi-FI" dirty="0" err="1"/>
              <a:t>Implementing</a:t>
            </a:r>
            <a:r>
              <a:rPr lang="fi-FI" dirty="0"/>
              <a:t> Machine Learning </a:t>
            </a:r>
            <a:r>
              <a:rPr lang="fi-FI" dirty="0" err="1"/>
              <a:t>models</a:t>
            </a:r>
            <a:r>
              <a:rPr lang="fi-FI" dirty="0"/>
              <a:t> and </a:t>
            </a:r>
            <a:r>
              <a:rPr lang="fi-FI" dirty="0" err="1"/>
              <a:t>comparing</a:t>
            </a:r>
            <a:r>
              <a:rPr lang="fi-FI" dirty="0"/>
              <a:t> </a:t>
            </a:r>
            <a:r>
              <a:rPr lang="fi-FI" dirty="0" err="1"/>
              <a:t>results</a:t>
            </a:r>
            <a:endParaRPr lang="fi-FI" dirty="0"/>
          </a:p>
          <a:p>
            <a:pPr marL="571500" lvl="1" indent="-342900">
              <a:buFont typeface="+mj-lt"/>
              <a:buAutoNum type="arabicPeriod"/>
            </a:pPr>
            <a:endParaRPr lang="fi-FI" dirty="0"/>
          </a:p>
          <a:p>
            <a:pPr lvl="1"/>
            <a:endParaRPr lang="fi-FI" dirty="0"/>
          </a:p>
          <a:p>
            <a:endParaRPr lang="fi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B3B7C-43E2-5F73-6240-0555E8DD8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429944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710</Words>
  <Application>Microsoft Office PowerPoint</Application>
  <PresentationFormat>Widescreen</PresentationFormat>
  <Paragraphs>152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Courier New</vt:lpstr>
      <vt:lpstr>Neue Haas Grotesk Text Pro</vt:lpstr>
      <vt:lpstr>VanillaVTI</vt:lpstr>
      <vt:lpstr>Sales Data and Predictions</vt:lpstr>
      <vt:lpstr>About the data</vt:lpstr>
      <vt:lpstr>Skills utilised</vt:lpstr>
      <vt:lpstr>Database setup</vt:lpstr>
      <vt:lpstr>Data cleaning and basic insights</vt:lpstr>
      <vt:lpstr>Database and querying</vt:lpstr>
      <vt:lpstr>Query Example</vt:lpstr>
      <vt:lpstr>Further queries using SQL</vt:lpstr>
      <vt:lpstr>Extracted Insights</vt:lpstr>
      <vt:lpstr>Feature engineering</vt:lpstr>
      <vt:lpstr>Feature engineering (reduction)</vt:lpstr>
      <vt:lpstr>ML (Logistic Regression)</vt:lpstr>
      <vt:lpstr>ML cont’d (Logistic Regression)</vt:lpstr>
      <vt:lpstr>ML cont’d (Decision Trees)</vt:lpstr>
      <vt:lpstr>ML cont’d (K-Means Clustering)</vt:lpstr>
      <vt:lpstr>ML cont’d (Random Forest)</vt:lpstr>
      <vt:lpstr>Model Performance</vt:lpstr>
      <vt:lpstr>Machine Learning (Ethical Consequences)</vt:lpstr>
      <vt:lpstr>Challenges</vt:lpstr>
      <vt:lpstr>Achievements (Self assessment)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Abbas Muhammad Hashim</dc:creator>
  <cp:lastModifiedBy>Abbas Muhammad Hashim</cp:lastModifiedBy>
  <cp:revision>31</cp:revision>
  <dcterms:created xsi:type="dcterms:W3CDTF">2026-03-23T09:44:18Z</dcterms:created>
  <dcterms:modified xsi:type="dcterms:W3CDTF">2026-04-07T08:29:36Z</dcterms:modified>
</cp:coreProperties>
</file>